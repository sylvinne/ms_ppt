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0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  <Relationship Id="rId10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s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s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Hans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s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s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Hans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_rels/notesSlide3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7.xml"/>
</Relationships>
</file>

<file path=ppt/notesSlides/_rels/notesSlide3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8.xml"/>
</Relationships>
</file>

<file path=ppt/notesSlides/_rels/notesSlide3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9.xml"/>
</Relationships>
</file>

<file path=ppt/notesSlides/_rels/notesSlide4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0.xml"/>
</Relationships>
</file>

<file path=ppt/notesSlides/_rels/notesSlide4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1.xml"/>
</Relationships>
</file>

<file path=ppt/notesSlides/_rels/notesSlide4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2.xml"/>
</Relationships>
</file>

<file path=ppt/notesSlides/_rels/notesSlide4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3.xml"/>
</Relationships>
</file>

<file path=ppt/notesSlides/_rels/notesSlide4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4.xml"/>
</Relationships>
</file>

<file path=ppt/notesSlides/_rels/notesSlide4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5.xml"/>
</Relationships>
</file>

<file path=ppt/notesSlides/_rels/notesSlide4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6.xml"/>
</Relationships>
</file>

<file path=ppt/notesSlides/_rels/notesSlide4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7.xml"/>
</Relationships>
</file>

<file path=ppt/notesSlides/_rels/notesSlide4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8.xml"/>
</Relationships>
</file>

<file path=ppt/notesSlides/_rels/notesSlide4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9.xml"/>
</Relationships>
</file>

<file path=ppt/notesSlides/_rels/notesSlide5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0.xml"/>
</Relationships>
</file>

<file path=ppt/notesSlides/_rels/notesSlide5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1.xml"/>
</Relationships>
</file>

<file path=ppt/notesSlides/_rels/notesSlide5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2.xml"/>
</Relationships>
</file>

<file path=ppt/notesSlides/_rels/notesSlide5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3.xml"/>
</Relationships>
</file>

<file path=ppt/notesSlides/_rels/notesSlide5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4.xml"/>
</Relationships>
</file>

<file path=ppt/notesSlides/_rels/notesSlide5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5.xml"/>
</Relationships>
</file>

<file path=ppt/notesSlides/_rels/notesSlide5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6.xml"/>
</Relationships>
</file>

<file path=ppt/notesSlides/_rels/notesSlide5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7.xml"/>
</Relationships>
</file>

<file path=ppt/notesSlides/_rels/notesSlide5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8.xml"/>
</Relationships>
</file>

<file path=ppt/notesSlides/_rels/notesSlide5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9.xml"/>
</Relationships>
</file>

<file path=ppt/notesSlides/_rels/notesSlide6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0.xml"/>
</Relationships>
</file>

<file path=ppt/notesSlides/_rels/notesSlide6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1.xml"/>
</Relationships>
</file>

<file path=ppt/notesSlides/_rels/notesSlide6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2.xml"/>
</Relationships>
</file>

<file path=ppt/notesSlides/_rels/notesSlide6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3.xml"/>
</Relationships>
</file>

<file path=ppt/notesSlides/_rels/notesSlide6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4.xml"/>
</Relationships>
</file>

<file path=ppt/notesSlides/_rels/notesSlide6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5.xml"/>
</Relationships>
</file>

<file path=ppt/notesSlides/_rels/notesSlide6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6.xml"/>
</Relationships>
</file>

<file path=ppt/notesSlides/_rels/notesSlide6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7.xml"/>
</Relationships>
</file>

<file path=ppt/notesSlides/_rels/notesSlide6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8.xml"/>
</Relationships>
</file>

<file path=ppt/notesSlides/_rels/notesSlide6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9.xml"/>
</Relationships>
</file>

<file path=ppt/notesSlides/_rels/notesSlide7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0.xml"/>
</Relationships>
</file>

<file path=ppt/notesSlides/_rels/notesSlide7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1.xml"/>
</Relationships>
</file>

<file path=ppt/notesSlides/_rels/notesSlide7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2.xml"/>
</Relationships>
</file>

<file path=ppt/notesSlides/_rels/notesSlide7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3.xml"/>
</Relationships>
</file>

<file path=ppt/notesSlides/_rels/notesSlide7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4.xml"/>
</Relationships>
</file>

<file path=ppt/notesSlides/_rels/notesSlide7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5.xml"/>
</Relationships>
</file>

<file path=ppt/notesSlides/_rels/notesSlide7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6.xml"/>
</Relationships>
</file>

<file path=ppt/notesSlides/_rels/notesSlide7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7.xml"/>
</Relationships>
</file>

<file path=ppt/notesSlides/_rels/notesSlide7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8.xml"/>
</Relationships>
</file>

<file path=ppt/notesSlides/_rels/notesSlide7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9.xml"/>
</Relationships>
</file>

<file path=ppt/notesSlides/_rels/notesSlide8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0.xml"/>
</Relationships>
</file>

<file path=ppt/notesSlides/_rels/notesSlide8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1.xml"/>
</Relationships>
</file>

<file path=ppt/notesSlides/_rels/notesSlide8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2.xml"/>
</Relationships>
</file>

<file path=ppt/notesSlides/_rels/notesSlide8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3.xml"/>
</Relationships>
</file>

<file path=ppt/notesSlides/_rels/notesSlide8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4.xml"/>
</Relationships>
</file>

<file path=ppt/notesSlides/_rels/notesSlide8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5.xml"/>
</Relationships>
</file>

<file path=ppt/notesSlides/_rels/notesSlide8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6.xml"/>
</Relationships>
</file>

<file path=ppt/notesSlides/_rels/notesSlide8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7.xml"/>
</Relationships>
</file>

<file path=ppt/notesSlides/_rels/notesSlide8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8.xml"/>
</Relationships>
</file>

<file path=ppt/notesSlides/_rels/notesSlide8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9.xml"/>
</Relationships>
</file>

<file path=ppt/notesSlides/_rels/notesSlide9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0.xml"/>
</Relationships>
</file>

<file path=ppt/notesSlides/_rels/notesSlide9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1.xml"/>
</Relationships>
</file>

<file path=ppt/notesSlides/_rels/notesSlide9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2.xml"/>
</Relationships>
</file>

<file path=ppt/notesSlides/_rels/notesSlide9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3.xml"/>
</Relationships>
</file>

<file path=ppt/notesSlides/_rels/notesSlide9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4.xml"/>
</Relationships>
</file>

<file path=ppt/notesSlides/_rels/notesSlide9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5.xml"/>
</Relationships>
</file>

<file path=ppt/notesSlides/_rels/notesSlide9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这一讲从测序仪本身出发，一路走到能拿去做统计的那张表，中间要认六种文件格式，最后在 R 里把区间真正用起来。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屏幕上这四行，是 SRR001666 的第一条读长，36 个碱基。今天先不解释它，只请你记住它的样子，还有屏幕上这四个问题。每个部分结束时你都该能多回答一点，讲到结尾我们回来对答案。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六个问题，页码都印在卡上：第一部分 P04 到 P13，第二部分 P14 到 P28，第三部分 P29 到 P36，第四部分 P37 到 P65，第五部分 P66 到 P84，第六部分 P85 到 P96。每张卡下面那一行，写的是这条读长会在这个部分以什么身份回来。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先不聊机器怎么开。三代测序的差别决定了你能做什么实验，所以第一部分先把这条线理清：三代今天并存，各干各的活。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这张图上三块并排。左边 Sanger 读得最长也最准，右边三代单分子能看到完整分子，中间二代靠并行把成本压下来，还顺手拿下 RNA 经 cDNA 测序这条线。顺便说一句，开场那条读长就出自中间这一代。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Sanger 一次读一条，读长能到 1 kb，准确率极高。它的位置变了：不再是主力，而是裁判——测到关键突变、要确认质粒，最后还是用 Sanger 复核一遍。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第二代真正的变化是把反应摊到一个平面上：从一次一个变成一次几亿个，单次运行就是 Gb 级数据。读长只有 50 到 300 bp，代价是比对歧义，这个问题下一部分会正面碰上。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第三代不扩增，直接读单条分子，读长以万碱基计：PacBio 的 HiFi 大约 15 到 25 kb，ONT 常规 10 到 100 kb。它解决的是「看不清全貌」——重复元件、结构变异、整个转录本，都是二代读不过去的坎。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这张表不用背，但要记住三行：读长、单分子、典型用途。三代读长是 HiFi 15–25 kb 与 ONT 10–100 kb+，准确率按校正后口径算，Q30 以上；代表机型 PacBio Revio 与 ONT R10.4.1。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四张卡讲的是同一件事：技术没停。Illumina 在 2026 年 2 月公布了 NovaSeq X 的后续升级路线，长读长在准确率上继续追，原位测序把空间位置保留下来，国产的 DNBSEQ 系列已经进入重大图谱项目。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选平台问三个问题就够了：我要看多少、我要看多长、我要看在哪里。对应的是数量、长度、位置三个信息维度，最终落到短读长、长读长还是单细胞与空间这条路上。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「高通量」的「高」在并行：文库摊在 flow cell 上，每个片段单独成簇，所有簇同时反应，一次成像把所有信号收下来。通量来自并行度，不是单个反应更快——这也是短读长和大量数据天然绑在一起的原因。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三代并存，各干各的活。下一部分拆开 Illumina：那条 36 bp 的读长，正是建库、成簇、测序、分析四步走完的产物。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第二部分只看一台机器：建库、成簇、边合成边测序，再把图像变成可比对的读长。开场那 36 个碱基就是这四步的产物。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图上这条产品线从台式排到生产规模：台式机 144 Mb 到 500 Gb，NovaSeq X 系列单次约 100 Gb 到 2600 Gb，都是厂商标称的最大值。读长台式 25 到 300 nt、生产型 50 到 250 nt。化学是同一套，差的是并行规模。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边合成边测序的钥匙是可逆终止子：一轮只掺一个带荧光的核苷酸，掺进去就拍一张照，认出是什么碱基，再切掉荧光基团放下一轮进来。重复几百轮，整条读长就出来了。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这是这一部分的地图：建库、成簇、测序、比对分析。前两步决定数据质量的上限，后两步决定结论可靠不可靠。后面一页拆一步，出问题时你可以回到这张图定位。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建库两步：先把基因组 DNA 打断成小片段，典型 200 到 500 bp，上限约 800 bp；再在两端接上已知序列的接头。接头是后面扩增和测序引物落脚的地方。打断方式会影响长度分布，文库没做好，后面所有数据都跟着差。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同一件事看两张图：左图是分子层面，片段两端各接一个接头；右图是文库结构示意，把接头的方向画清楚。看的时候只需记住一点：接头决定了片段以后往哪个方向长。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建库时给每个样本加一段独特的 index。多个样本混在一起测，测完再按 index 拆回各自的文件，这一步叫 demultiplexing。好处是便宜、批次效应小；代价是 index 设计不好会串样本，拆错了很难查。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为什么非要多一步扩增？因为单分子的荧光太弱，相机根本看不到。flow cell 表面排着与接头互补的寡核苷酸，片段结合上去，桥式扩增把它变成一个克隆簇，一个位置聚起成千上万条相同序列，信号才够亮。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测序这一轮做的事很机械：加入带荧光的核苷酸，一次只掺一个，然后检测波长和强度，判断这个位置是 A、T、C 还是 G。一轮一个碱基，循环下去读长就慢慢变长。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第四步是软件干的活：把一张张荧光图像翻译成碱基，再附上每个碱基的质量值，输出 bcl，转成通用的 FASTQ。回到开场那条读长——第 2 行那 36 个字母，正是这一步的产物。到这儿生物信息学才真正开始。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双端测的是同一片段的两头。插入片段长度没有绝对好坏：短一点覆盖更密，长一点跨度更远，要哪个取决于你的目标。右图先记住这个多映射的来源，下一页我们正面处理它。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双端不是把读长变长，而是多给了一个距离与方向的约束。四张卡就是它的四个用处：重复区里靠两端一起定到唯一位置，结构变异靠间距和方向异常露出来，组装时靠间距把 contig 连成 scaffold。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短读长落在重复元件上，可能同时匹配好几处，这就是多重映射。除了把读长测长、用双端约束，还有两条合法路线：按 MAPQ 过滤，保守但会丢掉 reads；或者用 EM 把读长按概率分给各个位置，保留信息但要依赖模型。选哪条，方法里要写清楚。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第二部分收尾前，把预算这件事说清楚。深度回答的是一个样本里某个位置看到了多少次，重复回答的是换一个样本还能不能复现，覆盖回答的是证据有没有落在目标区域。高总量不等于每个区域都被看见，先做估算再分钱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四步走完，一条主线：建库、成簇、测序、分析。下一部分换个问题——读长已经躺在那里了，它能回答哪一类生物学问题？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第三部分问一个更现实的问题：同一台机器，为什么能做完全不同的实验。答案在建库方案——测 DNA、测 RNA、测修饰，各走各的路。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三条路互不通用。测 DNA 回答基因组是什么样、哪里被调控；测 RNA 回答哪些基因在表达、表达多少；测修饰回答基因组怎么被化学修饰。先确定问题，再选方案——方案选错了，后面再努力也补不回来。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这张表是给你对号入座用的：左边是你的问题属于哪一类应用，中间是它回答什么，右边是你最后会拿到什么产出。注意 RNA-seq 那一行——产出是表达矩阵，也就是一张 count 表，这正是第五部分要做的东西。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人类基因组计划花了 13 年、约 30 亿美元；今天测一个人的全基因组是数百美元量级，大约 200 到 600 美元。图上这条曲线到这里就停了，最近几年的数字要自己去 NHGRI 查。成本掉下来之后，瓶颈换了个位置。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一个项目动辄 TB 级原始数据，存储、传输、比对、定量都要算力。这时候拉开差距的不是谁测得多，而是谁的数据管得住：元数据、版本、可追溯，从第一天就要定。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第三部分这页讲设计。顺序是问题、设计、测序、结论：先写清比较什么差异，再定对照、重复和批次，然后才谈深度够不够。不同 assay 的最小检查不一样——RNA-seq 看生物学重复，ATAC-seq 和 ChIP-seq 看 input 与对照，单细胞看细胞数和双细胞率。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读长更长、数据更多、还要带空间坐标，工具一直在换。但有几件事不变：FASTA、FASTQ、SAM、VCF 仍然是大家的共同语言，能力的重心也从会跑流程转向会设计分析。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先想清楚问题，再选技术。下一部分一次都不碰机器——答案在数据落地的文件里，就从那条读长的四行开始。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第四部分认六种格式：序列、质量值、注释、区间、比对结果、变异，每样一种文件。学它们是做这行的读写能力。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这张表竖着看一遍就够：六种格式里只有 BAM 和 BCF 是二进制。文本方便你看，二进制方便机器算——生产环境里几乎都用二进制那一列。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FASTA 就两件事：一个大于号开头的描述行，加一到多行序列。屏幕上这条记录，工具只认大于号后面、空格之前那一段作 ID，其余全是注释。序列行可以随便折行，读的时候会拼回一条。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三块面板讲同一件事。中间那块四行序列拼起来才是一条 48 bp，所以折行不影响内容；右边是我们开场那条读长，去掉质量值就是 FASTA，高亮的那一段正是工具当作 ID 的部分。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FASTQ 就是四行一组：@ 开头的 ID、碱基序列、加号那一行、质量字符行。第 2 行和第 4 行必须一样长。第 3 行可以重复第 1 行的内容，也可以只留一个加号，两种写法都合法——开场第 3 问的答案就在这里。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质量值是一个对数：Q 等于负十乘 log10(p)，p 是这个碱基测错的概率。Q 越大错得越少。存的时候用 ASCII 字符，c 等于 33 加 Q。举例：错误概率万分之一，Q 是 40，加 33 得 73，那个字符就是大写 I。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这段 R 代码正反都能算：从错误概率算 Q 值、算字符，也从字符倒推回错误概率。回到开场那条读长，第 4 行那个 I 就是 Q40。记住两个数：Q20 是百分之一错误率，Q30 是千分之一，质控报告里的 %Q30 就是它们堆出来的。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左图是分值 Q 与错误率的换算表，右图把质量等级和字符编码对上号——你以后看的所有质量图都建在这两个约定上。横轴是读长位置、纵轴是质量值的那张箱线图，在第 46 页（FastQC 那一页）。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SeqKit 一个工具就把 FASTA 和 FASTQ 的日常操作包了：转换、统计、过滤、抽样，命令行风格一致，装法是一条 conda 命令。它的引用量已经超过 1800 次，数据截至 2026 年的 Google Scholar。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两张箱线图，横轴是读长位置，纵轴是质量值。左边这份全程平稳，右边这份 3′ 端明显掉下来——读长越往后质量越差，多半要剪掉尾巴再往下走。这张图你以后天天看。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样本一多，几十份 FastQC 报告逐个看是不现实的。MultiQC 一条命令扫完整个目录，把结果汇成一张 General Statistics 表和一份 HTML。方法学部分要引它，出处是 Ewels et al. (2016) Bioinformatics 32(19):3047–3048。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fastp 把质控和过滤合成一步：去接头、切掉低质量末端、按长度筛，跑完直接给你过滤前后的对比报告。速度快、报告直观，适合放进自动化流程——日常用这一个通常就够了。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GFF 是 General Feature Format，现在是第 3 版；GTF 是 Gene Transfer Format，等同于 GFF 2.5。两者都是九列、一行一个特征，差别主要在属性列怎么写。坐标是 1-based 闭区间。最后一句要记住：注释文件错了，定量结果全错，而且很难发现。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九列里先记住三处：第 3 列是特征类型，gene、mRNA、exon、CDS 就靠它区分；第 4、5 列是起止位置；第 9 列是属性，键值对形式，用分号隔开——下游工具真正读的往往是这一列。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BED 只为位置服务：最少三列，染色体、起点、终点；常用六列，加上名称、分值和链方向。它本来是给浏览器画图用的。最要紧的是坐标——BED 是 0-based 半开区间，和 GFF 不一样。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同一个位置，在 GFF 和 BED 里写出来的数字不一样：GFF 是 1-based 闭区间，起点终点都算；BED 是 0-based 半开区间，含起点不含终点。格式转换翻车大多翻在这一步。拿到文件先确认坐标约定，再动手。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比对就是把读长放回基因组上。RNA-seq 的读长会跨越外显子边界，所以工具必须懂剪接，常用的就是 STAR 和 HISAT2。输出通常是 BAM，也就是 SAM 的二进制编码，一般还再经 BGZF 压一层。比对质量决定后面定量可不可靠。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SAM 是纯文本，一行一条读长的比对结果；BAM 是它的二进制版本，带索引就能随机跳到任意位置。日常两条命令：samtools view 看记录，samtools view -H 看头部。之后所有比对相关的操作，基本都围着这两个格式转。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打开一个 BAM，先看头部：@ 开头的行定义了参考序列名和排序方式，后面每一行都受它约束。右边这张是比对记录的 11 个必需字段，下一页我挑出新手最该记住的六个。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十一个字段里先记六个：QNAME 是读长 ID，FLAG 记录它比对上了没有、是不是 read2，RNAME 说比对到哪条染色体，POS 是起点，MAPQ 是这次比对的置信度，CIGAR 是匹配、插入、缺失的编码串。最后两个最容易被忽略，也最关键。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VCF 是变异的标准存法，纯文本；BCF 是它的二进制版本。结构还是两个字：头部加记录——头部以两个井号开头，记录部分一行一个变异位点。日常也常用 bgzip 压过的 .vcf.gz 配索引。处理工具是 bcftools。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一条 VCF 记录分两段。前八列是固定信息：染色体、位置、ID、参考碱基、变异碱基、质量、过滤标记、INFO。第 9 列起是 FORMAT 加每个样本一列，FORMAT 声明这一行该怎么读，下面的 GT:DP 就是照着它填的格式串加基因型。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同样叫覆盖度，其实是两件事。DNA-seq 沿染色体铺开，看深度是不是处处达标、缺口落在哪里；RNA-seq 沿转录本铺开，看 5′ 和 3′ 是否均衡、meta-gene 是否对称。指标清单不一样，报告模板也是两套，模式选错就答非所问。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一份 QualiMap 报告别全看，先看这三张。左边覆盖度分布，看横向有没有铺满、有没有成片的缺口；中间 Summary 看 mapped 比例、配对比例和重复率；右边 GC 分布，跟理论曲线比，偏了说明有系统性偏好。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这两个工具是所有流程的基石：samtools 管 SAM 和 BAM，bcftools 管 VCF 和 BCF。左边这张列的是 samtools 的常用操作，右边是 bcftools 的。你不用背全，先记住看记录、排序、建索引这三类动作，几乎每个流程都会用到。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区间运算是生信里最常重复的动作，BEDtools 把它变成一行命令：intersect 求交集，merge 把重叠区间并起来，complement 取补集，coverage 算覆盖度。这一页前两张图分别是 merge 与 intersect 的样子，第三张是项目标识；补集与覆盖度各对应一条命令。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IGV 几乎能打开所有常见格式：BAM、VCF、GTF、BED、bigWig。它最值钱的用途是人工检查——可疑位点、剪接事件、变异调用，都值得亲眼看一遍。不想装软件就用在线浏览器，Ensembl 是 ensembl.org，UCSC 是 genome.ucsc.edu。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用 IGV 看一条比对，四件事：载入 BAM 和它的 .bai 索引，缺一个就打不开；用 chr:start-end 或者基因名跳过去；看覆盖是否均匀、错配是否成簇、CIGAR 里的 N 就是剪接；命令行给数字，IGV 给形状，两边互相验证。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六种格式连起来是一条数据流：序列、质量值、注释、区间、比对结果、变异。下一部分换到 R 里——文件读完了，该让区间成为一等公民。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第五部分进 R。Bioconductor 把区间变成一等公民：先管区间本身，再加染色体与链，然后分组、覆盖度，最后落到表达定量。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三个包分工明确：IRanges 表示序列上的区间，GenomicRanges 在区间上加上染色体和链方向，GenomicFeatures 从注释文件建基因与转录本模型。有了统一表示，不同来源的基因组数据才能放在一起算。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IRanges 只管序列上的区间，它不知道染色体，也不知道链。内部用 run-length encoding 压缩：像 {1,1,1,2,3,3} 这样的序列，记成 values 是 1、2、3，lengths 是 3、1、2 就够了。图上那份控制台输出里，100 个 run 压完只剩原大小的百分之几。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一个 IRanges 有三个基本属性：start、end、width，知道两个就能推出第三个。除此之外它还能做集合运算——并集、交集、补集、位移。左边是属性，右边是运算，看完这两张你就能自己拼区间了。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图上这个对象里，$one 装了三个区间，$two 装了四个——一个名字对应一组 IRanges，按名字取用。为什么需要它？因为一个基因的多个外显子本来就不是一个区间。数个数用 lengths()，逐个处理用 lapply() 或 endoapply()。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GRanges 就是在 IRanges 上面加了两样东西：seqnames 和 strand。有了染色体名和链方向，一个区间才算真正落在基因组上。左边这张是它的结构，右边是区间落在染色体上的样子。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一个基因有多个外显子，这时候用 GRangesList：每个元素是一个 GRanges，外层保留分组。分组不是形式主义——它保住了「这些区间属于同一个基因」这层关系，后面按基因求并集、算长度都靠它。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把 BAM 读进 R，第一步拿到的是 GappedReads，是 ShortRead 包的类：seqnames、strand、cigar 都在。左边代码是 readGappedReads()，右边对象里装着 3271 条比对。GAlignments 是 GenomicAlignments 的同类对象。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一行 as(aln1, "GRanges") 就把比对对象变成区间对象，图上显示 3271 个区间，每个都带 seqnames 和 strand。坐标一个没变，变的是接口：findOverlaps 这类运算要对着区间做。要序列、要 MAPQ、要 CIGAR，回头用原对象。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GRanges 最舒服的地方在这儿：区间有没有重叠，一句话就能问。findOverlaps 给你所有重叠配对，subsetByOverlaps 直接筛出重叠的那些，mcols 用来放和每个区间绑在一起的元列。左边是查询接口，右边是元数据。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覆盖度就是每个位置被读了多少次。左边是一条沿基因组的覆盖曲线，右边是按区间统计的结果，变异检测要靠它判断这个位点可不可信。但要分清：RNA-seq 的基因定量用的是读长归属计数，覆盖度只用来判断数据可不可靠。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从 BAM 到表达矩阵就三步：读入比对、匹配注释、计数。输入是比对好的 BAM，注释必须和比对时用的一致，输出是行为基因、列为样本的 count table。这一步常用的工具是 featureCounts；如果不做剪接和变异、只要定量，还有一条转录本伪定量的路线，第 4 讲展开。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开始数之前先对齐三件事：参考基因组要和比对时用同一个版本，比如 GRCh38；注释文件的版本要严格对应，否则坐标对不上；链特异性参数要按建库方案设成 yes、reverse 或 no。这三样错了，后面的数字一个都不作数。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深度和长度都在影响原始 count。TPM 是 Transcripts Per Million：每个转录本先算 count/length，再 ÷ 该样本所有 count/length 之和 ×10⁶。样本内总和恒为 1e6，样本间只比同一个基因。RPKM 管单端、FPKM 管双端，差异分析用 counts。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这段 R 代码三步：先算总量除以一百万得到缩放因子，用它把 count 归一成 RPM，最后再除以基因长度。顺序是先深度后长度，这是 RPKM 的定义。正因为这个顺序，每个样本的总和不相等，所以 RPKM 和 FPKM 只适合同一样本内看。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TPM 跟 RPKM 正好反过来：先把 count 除以基因长度得到 rate，再把所有 rate 加起来，最后用 rate 除以总和再乘一百万。分母是长度校正后的总量，不含 mapped reads。所以样本内总和恒为 1e6，样本间能比同一个基因；同一样本里不同基因之间仍然不能比高低。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这两张图把 RNA-seq 从原始数据到生物学结论的链条画全了：质控、比对或伪定量、计数、标准化，最后到差异表达。第 3 讲只走到拿到表达矩阵，统计模型和差异分析的方法细节，第 4 讲展开。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第五部分收尾。同一句「基因表达变了」，在 bulk 里是一个样本的平均，在单细胞里是每个细胞的状态，在空间方法里还要带上组织坐标，观测单位分别是 gene × sample、gene × cell、gene × spot/bin。分辨率越高不等于问题越容易——本讲只留选择轴，方法在第 4 到第 6 讲展开。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整条流水线五步：读入、转换、区间运算、定量、标准化。下一部分不动嘴了，亲手把 SRR001666 这条读长跑一遍。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最后一部分是上机与收束，四个练习：看懂一条 FASTQ 记录、手算质量值、用命令行做一次质控、把注释读成区间对象。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第一段 R 代码把前 8 行读进来，按 1 到 4 行取出 ID、序列、加号和质量字符，再比较 nchar。这一步回答的正是开场那句关于长度的提示：第 2 行和第 4 行长度必须相等，不等就是文件坏了。seqkit stats 能一次给出条数和长度分布。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三个小函数正反换算：q_to_p 把 Q 变成错误概率，char_to_q 把字符减 33 变回 Q，q_to_char 反过来。跑一遍就看到 Q20 是百分之一、Q30 是千分之一。最后那个思考题值得动手算：150 个位置每个都 Q30，整条读长完全正确的概率大约只有 86%。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三条命令：seqkit stats 给条数、总长和长度分布；fastqc 出逐碱基的质量报告，重点看 3′ 端有没有掉下来；multiqc 把目录里的报告并成一张表。最容易被跳过的是最后一步——看完报告再动手过滤，别倒过来。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这段代码把前面几个部分串起来了：用 rtracklayer 的 import 读 GFF3，筛出 gene 类型的行，构造一个目标区间，再用 subsetByOverlaps 找出落在里面的基因。seqnames、start、end、strand 是四个基本访问器。练习：数一数你的注释里有多少个基因。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八个坑，每一个都有人栽过。最隐蔽的是第一个：坐标约定搞混，GFF 是 1-based 闭区间，BED 是 0-based 半开区间。第七个要特别说一句——不是让你手工反向互补 read2，而是把链特异性参数和建库方案对上，方向设错定量就反了。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接下来怎么走，四步：先把 FASTA、FASTQ、SAM、VCF 读到能手工解读；再练熟 samtools、bedtools、seqkit 的常用命令；然后进 R，用 Bioconductor 的区间抽象做定量；最后一步才是设计分析。前三步是基础，第四步才是分水岭。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五条资源都在这一页，遇到问题按顺序找：问答社区、工具手册、官方规格、工作流文档、比对查看器。字段有争议先查规格。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缩写集中对一遍。这张表当字典用：读文件或者看流程时碰到不认识的词，先来这儿确认，再去搜更细的资料。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开场四行，逐行对答案。① @ 是 FASTQ 记号，后面是仪器的坐标与读长。② 36 个碱基，就是 SBS 循环 36 轮成像的结果。③ 加号只是分隔符，重复 ID 是老写法，可省略。④ 每个字符是一个碱基的质量，ASCII 减 33 才是 Q 值，36 个里 34 个越过 Q30。最后再补开场那句关于长度的提示：第 2 行与第 4 行必须等长，不等即文件损坏。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结果和预期不一致的时候，排查有顺序：先看质控报告，%Q30 达标没有、有没有接头污染；再看比对质量，比对率、MAPQ 分布、覆盖均一性；然后用 IGV 看几个关键位点的原始比对；最后才考虑生物学解释。多数「意外发现」其实是数据处理问题。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-CN" dirty="0"/>
              <a:t>把证据链走完：先查质量，再查证据链，结论要结合设计、覆盖与比对质量。保留证据边界，再解释生物学。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3-sequenc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3-sequenc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01548890e833385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72fcc0940b02ed1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e4cc9f8e0a03ced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966080dae3d87b4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2b9f024868cfa02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0f7c06b12330833.png"/>
  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6a3e16fe11773c3.png"/>
  <Relationship Id="rId3" Type="http://schemas.openxmlformats.org/officeDocument/2006/relationships/image" Target="../media/image_00a621ca49c5cfe7.png"/>
  <Relationship Id="rId4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488775e4e1de36.png"/>
  <Relationship Id="rId3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e01ccb244afaf9.png"/>
  <Relationship Id="rId3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1aef4cca51d9e52.png"/>
  <Relationship Id="rId3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ac87e54b798a93e.png"/>
  <Relationship Id="rId3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f99bfc0cf09cd2b.png"/>
  <Relationship Id="rId3" Type="http://schemas.openxmlformats.org/officeDocument/2006/relationships/image" Target="../media/image_f2cb0a17349a3db2.png"/>
  <Relationship Id="rId4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9740fd30c64abb8.jpg"/>
  <Relationship Id="rId3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1a2fee4442ecc0.png"/>
  <Relationship Id="rId3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6.xml"/>
</Relationships>
</file>

<file path=ppt/slides/_rels/slide3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7.xml"/>
</Relationships>
</file>

<file path=ppt/slides/_rels/slide3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8.xml"/>
</Relationships>
</file>

<file path=ppt/slides/_rels/slide3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9.xml"/>
</Relationships>
</file>

<file path=ppt/slides/_rels/slide4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371e297e925a57.png"/>
  <Relationship Id="rId3" Type="http://schemas.openxmlformats.org/officeDocument/2006/relationships/notesSlide" Target="../notesSlides/notesSlide40.xml"/>
</Relationships>
</file>

<file path=ppt/slides/_rels/slide4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1.xml"/>
</Relationships>
</file>

<file path=ppt/slides/_rels/slide4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948550b44adda9b.png"/>
  <Relationship Id="rId3" Type="http://schemas.openxmlformats.org/officeDocument/2006/relationships/notesSlide" Target="../notesSlides/notesSlide42.xml"/>
</Relationships>
</file>

<file path=ppt/slides/_rels/slide4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3.xml"/>
</Relationships>
</file>

<file path=ppt/slides/_rels/slide4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6acc04cbb7080db.png"/>
  <Relationship Id="rId3" Type="http://schemas.openxmlformats.org/officeDocument/2006/relationships/image" Target="../media/image_8625c3f26ee7c4a2.png"/>
  <Relationship Id="rId4" Type="http://schemas.openxmlformats.org/officeDocument/2006/relationships/notesSlide" Target="../notesSlides/notesSlide44.xml"/>
</Relationships>
</file>

<file path=ppt/slides/_rels/slide4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307b4a3db291815.jpg"/>
  <Relationship Id="rId3" Type="http://schemas.openxmlformats.org/officeDocument/2006/relationships/notesSlide" Target="../notesSlides/notesSlide45.xml"/>
</Relationships>
</file>

<file path=ppt/slides/_rels/slide4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42e75e61819821b.png"/>
  <Relationship Id="rId3" Type="http://schemas.openxmlformats.org/officeDocument/2006/relationships/image" Target="../media/image_ac6eac50a60474ed.png"/>
  <Relationship Id="rId4" Type="http://schemas.openxmlformats.org/officeDocument/2006/relationships/notesSlide" Target="../notesSlides/notesSlide46.xml"/>
</Relationships>
</file>

<file path=ppt/slides/_rels/slide4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478c4765f236db.png"/>
  <Relationship Id="rId3" Type="http://schemas.openxmlformats.org/officeDocument/2006/relationships/image" Target="../media/image_4c4272ba757e1db3.png"/>
  <Relationship Id="rId4" Type="http://schemas.openxmlformats.org/officeDocument/2006/relationships/image" Target="../media/image_d33cabb24c0ba80e.png"/>
  <Relationship Id="rId5" Type="http://schemas.openxmlformats.org/officeDocument/2006/relationships/notesSlide" Target="../notesSlides/notesSlide47.xml"/>
</Relationships>
</file>

<file path=ppt/slides/_rels/slide4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3696983684a9250.png"/>
  <Relationship Id="rId3" Type="http://schemas.openxmlformats.org/officeDocument/2006/relationships/image" Target="../media/image_e551e938e67f3660.png"/>
  <Relationship Id="rId4" Type="http://schemas.openxmlformats.org/officeDocument/2006/relationships/notesSlide" Target="../notesSlides/notesSlide48.xml"/>
</Relationships>
</file>

<file path=ppt/slides/_rels/slide4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9.xml"/>
</Relationships>
</file>

<file path=ppt/slides/_rels/slide5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f21ab77fd7e7306.png"/>
  <Relationship Id="rId3" Type="http://schemas.openxmlformats.org/officeDocument/2006/relationships/notesSlide" Target="../notesSlides/notesSlide50.xml"/>
</Relationships>
</file>

<file path=ppt/slides/_rels/slide5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26c65b8c174ea18.png"/>
  <Relationship Id="rId3" Type="http://schemas.openxmlformats.org/officeDocument/2006/relationships/notesSlide" Target="../notesSlides/notesSlide51.xml"/>
</Relationships>
</file>

<file path=ppt/slides/_rels/slide5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76da61fab96cba1.png"/>
  <Relationship Id="rId3" Type="http://schemas.openxmlformats.org/officeDocument/2006/relationships/notesSlide" Target="../notesSlides/notesSlide52.xml"/>
</Relationships>
</file>

<file path=ppt/slides/_rels/slide5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b57fc7999131052.png"/>
  <Relationship Id="rId3" Type="http://schemas.openxmlformats.org/officeDocument/2006/relationships/notesSlide" Target="../notesSlides/notesSlide53.xml"/>
</Relationships>
</file>

<file path=ppt/slides/_rels/slide5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4.xml"/>
</Relationships>
</file>

<file path=ppt/slides/_rels/slide5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6dd66e889931ff.png"/>
  <Relationship Id="rId3" Type="http://schemas.openxmlformats.org/officeDocument/2006/relationships/image" Target="../media/image_13f67d7c8b831d3a.png"/>
  <Relationship Id="rId4" Type="http://schemas.openxmlformats.org/officeDocument/2006/relationships/notesSlide" Target="../notesSlides/notesSlide55.xml"/>
</Relationships>
</file>

<file path=ppt/slides/_rels/slide5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6.xml"/>
</Relationships>
</file>

<file path=ppt/slides/_rels/slide5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3d50c98c4568d4b.png"/>
  <Relationship Id="rId3" Type="http://schemas.openxmlformats.org/officeDocument/2006/relationships/notesSlide" Target="../notesSlides/notesSlide57.xml"/>
</Relationships>
</file>

<file path=ppt/slides/_rels/slide5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bede729e4d89d7d.png"/>
  <Relationship Id="rId3" Type="http://schemas.openxmlformats.org/officeDocument/2006/relationships/notesSlide" Target="../notesSlides/notesSlide58.xml"/>
</Relationships>
</file>

<file path=ppt/slides/_rels/slide5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4a7c2e6fc7a31c8.png"/>
  <Relationship Id="rId3" Type="http://schemas.openxmlformats.org/officeDocument/2006/relationships/notesSlide" Target="../notesSlides/notesSlide59.xml"/>
</Relationships>
</file>

<file path=ppt/slides/_rels/slide6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2a1e90d202dbf5f.png"/>
  <Relationship Id="rId3" Type="http://schemas.openxmlformats.org/officeDocument/2006/relationships/image" Target="../media/image_d1d4f8c997cbe04c.png"/>
  <Relationship Id="rId4" Type="http://schemas.openxmlformats.org/officeDocument/2006/relationships/image" Target="../media/image_cc311fa9ba13371e.png"/>
  <Relationship Id="rId5" Type="http://schemas.openxmlformats.org/officeDocument/2006/relationships/notesSlide" Target="../notesSlides/notesSlide60.xml"/>
</Relationships>
</file>

<file path=ppt/slides/_rels/slide6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2f3e7ac4503283d.png"/>
  <Relationship Id="rId3" Type="http://schemas.openxmlformats.org/officeDocument/2006/relationships/image" Target="../media/image_cef8e6b0624e3b8a.png"/>
  <Relationship Id="rId4" Type="http://schemas.openxmlformats.org/officeDocument/2006/relationships/notesSlide" Target="../notesSlides/notesSlide61.xml"/>
</Relationships>
</file>

<file path=ppt/slides/_rels/slide6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4c57cd06cf93bc4.png"/>
  <Relationship Id="rId3" Type="http://schemas.openxmlformats.org/officeDocument/2006/relationships/image" Target="../media/image_753764c96d86f847.png"/>
  <Relationship Id="rId4" Type="http://schemas.openxmlformats.org/officeDocument/2006/relationships/image" Target="../media/image_3207f28f234e9621.png"/>
  <Relationship Id="rId5" Type="http://schemas.openxmlformats.org/officeDocument/2006/relationships/notesSlide" Target="../notesSlides/notesSlide62.xml"/>
</Relationships>
</file>

<file path=ppt/slides/_rels/slide6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3.xml"/>
</Relationships>
</file>

<file path=ppt/slides/_rels/slide6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4.xml"/>
</Relationships>
</file>

<file path=ppt/slides/_rels/slide6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5.xml"/>
</Relationships>
</file>

<file path=ppt/slides/_rels/slide6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6.xml"/>
</Relationships>
</file>

<file path=ppt/slides/_rels/slide6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7.xml"/>
</Relationships>
</file>

<file path=ppt/slides/_rels/slide6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3ffbb080ee37850.png"/>
  <Relationship Id="rId3" Type="http://schemas.openxmlformats.org/officeDocument/2006/relationships/notesSlide" Target="../notesSlides/notesSlide68.xml"/>
</Relationships>
</file>

<file path=ppt/slides/_rels/slide6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e3ed47a3db91ec3.png"/>
  <Relationship Id="rId3" Type="http://schemas.openxmlformats.org/officeDocument/2006/relationships/image" Target="../media/image_70732ed15801a732.png"/>
  <Relationship Id="rId4" Type="http://schemas.openxmlformats.org/officeDocument/2006/relationships/notesSlide" Target="../notesSlides/notesSlide69.xml"/>
</Relationships>
</file>

<file path=ppt/slides/_rels/slide7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dbf8c5f4e6af1b1.png"/>
  <Relationship Id="rId3" Type="http://schemas.openxmlformats.org/officeDocument/2006/relationships/notesSlide" Target="../notesSlides/notesSlide70.xml"/>
</Relationships>
</file>

<file path=ppt/slides/_rels/slide7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e106d0d4aa35d0f.png"/>
  <Relationship Id="rId3" Type="http://schemas.openxmlformats.org/officeDocument/2006/relationships/image" Target="../media/image_a789ce2edb0f54fc.png"/>
  <Relationship Id="rId4" Type="http://schemas.openxmlformats.org/officeDocument/2006/relationships/notesSlide" Target="../notesSlides/notesSlide71.xml"/>
</Relationships>
</file>

<file path=ppt/slides/_rels/slide7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4643ea71a05d946.png"/>
  <Relationship Id="rId3" Type="http://schemas.openxmlformats.org/officeDocument/2006/relationships/image" Target="../media/image_9a470b25396fb0c9.png"/>
  <Relationship Id="rId4" Type="http://schemas.openxmlformats.org/officeDocument/2006/relationships/notesSlide" Target="../notesSlides/notesSlide72.xml"/>
</Relationships>
</file>

<file path=ppt/slides/_rels/slide7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098850bd07225e2.png"/>
  <Relationship Id="rId3" Type="http://schemas.openxmlformats.org/officeDocument/2006/relationships/image" Target="../media/image_56d173a22ad2fe7f.png"/>
  <Relationship Id="rId4" Type="http://schemas.openxmlformats.org/officeDocument/2006/relationships/notesSlide" Target="../notesSlides/notesSlide73.xml"/>
</Relationships>
</file>

<file path=ppt/slides/_rels/slide7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7da1d0b7464d93c.png"/>
  <Relationship Id="rId3" Type="http://schemas.openxmlformats.org/officeDocument/2006/relationships/notesSlide" Target="../notesSlides/notesSlide74.xml"/>
</Relationships>
</file>

<file path=ppt/slides/_rels/slide7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5b778cdd3bc704.png"/>
  <Relationship Id="rId3" Type="http://schemas.openxmlformats.org/officeDocument/2006/relationships/image" Target="../media/image_80534db27363335c.png"/>
  <Relationship Id="rId4" Type="http://schemas.openxmlformats.org/officeDocument/2006/relationships/notesSlide" Target="../notesSlides/notesSlide75.xml"/>
</Relationships>
</file>

<file path=ppt/slides/_rels/slide7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4e05cca11102aff.png"/>
  <Relationship Id="rId3" Type="http://schemas.openxmlformats.org/officeDocument/2006/relationships/image" Target="../media/image_4f29f4102c683ee8.png"/>
  <Relationship Id="rId4" Type="http://schemas.openxmlformats.org/officeDocument/2006/relationships/notesSlide" Target="../notesSlides/notesSlide76.xml"/>
</Relationships>
</file>

<file path=ppt/slides/_rels/slide7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825879be2bd87e6.png"/>
  <Relationship Id="rId3" Type="http://schemas.openxmlformats.org/officeDocument/2006/relationships/notesSlide" Target="../notesSlides/notesSlide77.xml"/>
</Relationships>
</file>

<file path=ppt/slides/_rels/slide7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e2d52799ca3710.png"/>
  <Relationship Id="rId3" Type="http://schemas.openxmlformats.org/officeDocument/2006/relationships/notesSlide" Target="../notesSlides/notesSlide78.xml"/>
</Relationships>
</file>

<file path=ppt/slides/_rels/slide7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9.xml"/>
</Relationships>
</file>

<file path=ppt/slides/_rels/slide8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0.xml"/>
</Relationships>
</file>

<file path=ppt/slides/_rels/slide8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1.xml"/>
</Relationships>
</file>

<file path=ppt/slides/_rels/slide8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ea5521b4fdca37b.png"/>
  <Relationship Id="rId3" Type="http://schemas.openxmlformats.org/officeDocument/2006/relationships/image" Target="../media/image_42c87c288315af1b.png"/>
  <Relationship Id="rId4" Type="http://schemas.openxmlformats.org/officeDocument/2006/relationships/notesSlide" Target="../notesSlides/notesSlide82.xml"/>
</Relationships>
</file>

<file path=ppt/slides/_rels/slide8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3.xml"/>
</Relationships>
</file>

<file path=ppt/slides/_rels/slide8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4.xml"/>
</Relationships>
</file>

<file path=ppt/slides/_rels/slide8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5.xml"/>
</Relationships>
</file>

<file path=ppt/slides/_rels/slide8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6.xml"/>
</Relationships>
</file>

<file path=ppt/slides/_rels/slide8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7.xml"/>
</Relationships>
</file>

<file path=ppt/slides/_rels/slide8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8.xml"/>
</Relationships>
</file>

<file path=ppt/slides/_rels/slide8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9.xml"/>
</Relationships>
</file>

<file path=ppt/slides/_rels/slide9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0.xml"/>
</Relationships>
</file>

<file path=ppt/slides/_rels/slide9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1.xml"/>
</Relationships>
</file>

<file path=ppt/slides/_rels/slide9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2.xml"/>
</Relationships>
</file>

<file path=ppt/slides/_rels/slide9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3.xml"/>
</Relationships>
</file>

<file path=ppt/slides/_rels/slide9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4.xml"/>
</Relationships>
</file>

<file path=ppt/slides/_rels/slide9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5.xml"/>
</Relationships>
</file>

<file path=ppt/slides/_rels/slide9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yline 2"/>
          <p:cNvSpPr/>
          <p:nvPr/>
        </p:nvSpPr>
        <p:spPr>
          <a:xfrm>
            <a:off x="1143000" y="3238500"/>
            <a:ext cx="9906000" cy="1714500"/>
          </a:xfrm>
          <a:custGeom>
            <a:avLst/>
            <a:gdLst/>
            <a:ahLst/>
            <a:cxnLst/>
            <a:rect l="l" t="t" r="r" b="b"/>
            <a:pathLst>
              <a:path w="9906000" h="1714500">
                <a:moveTo>
                  <a:pt x="0" y="857250"/>
                </a:moveTo>
                <a:lnTo>
                  <a:pt x="164783" y="1079182"/>
                </a:lnTo>
                <a:lnTo>
                  <a:pt x="330517" y="1285875"/>
                </a:lnTo>
                <a:lnTo>
                  <a:pt x="495300" y="1463040"/>
                </a:lnTo>
                <a:lnTo>
                  <a:pt x="660083" y="1599247"/>
                </a:lnTo>
                <a:lnTo>
                  <a:pt x="825817" y="1684972"/>
                </a:lnTo>
                <a:lnTo>
                  <a:pt x="990600" y="1714500"/>
                </a:lnTo>
                <a:lnTo>
                  <a:pt x="1155382" y="1684972"/>
                </a:lnTo>
                <a:lnTo>
                  <a:pt x="1321118" y="1599247"/>
                </a:lnTo>
                <a:lnTo>
                  <a:pt x="1485900" y="1463040"/>
                </a:lnTo>
                <a:lnTo>
                  <a:pt x="1650682" y="1285875"/>
                </a:lnTo>
                <a:lnTo>
                  <a:pt x="1816418" y="1079182"/>
                </a:lnTo>
                <a:lnTo>
                  <a:pt x="1981200" y="857250"/>
                </a:lnTo>
                <a:lnTo>
                  <a:pt x="2145982" y="635317"/>
                </a:lnTo>
                <a:lnTo>
                  <a:pt x="2311718" y="428625"/>
                </a:lnTo>
                <a:lnTo>
                  <a:pt x="2476500" y="251460"/>
                </a:lnTo>
                <a:lnTo>
                  <a:pt x="2641282" y="115253"/>
                </a:lnTo>
                <a:lnTo>
                  <a:pt x="2807018" y="29528"/>
                </a:lnTo>
                <a:lnTo>
                  <a:pt x="2971800" y="0"/>
                </a:lnTo>
                <a:lnTo>
                  <a:pt x="3136582" y="29528"/>
                </a:lnTo>
                <a:lnTo>
                  <a:pt x="3302318" y="115253"/>
                </a:lnTo>
                <a:lnTo>
                  <a:pt x="3467100" y="251460"/>
                </a:lnTo>
                <a:lnTo>
                  <a:pt x="3631882" y="428625"/>
                </a:lnTo>
                <a:lnTo>
                  <a:pt x="3797618" y="635317"/>
                </a:lnTo>
                <a:lnTo>
                  <a:pt x="3962400" y="857250"/>
                </a:lnTo>
                <a:lnTo>
                  <a:pt x="4127182" y="1079182"/>
                </a:lnTo>
                <a:lnTo>
                  <a:pt x="4292918" y="1285875"/>
                </a:lnTo>
                <a:lnTo>
                  <a:pt x="4457700" y="1463040"/>
                </a:lnTo>
                <a:lnTo>
                  <a:pt x="4622482" y="1599247"/>
                </a:lnTo>
                <a:lnTo>
                  <a:pt x="4788218" y="1684972"/>
                </a:lnTo>
                <a:lnTo>
                  <a:pt x="4953000" y="1714500"/>
                </a:lnTo>
                <a:lnTo>
                  <a:pt x="5117782" y="1684972"/>
                </a:lnTo>
                <a:lnTo>
                  <a:pt x="5283518" y="1599247"/>
                </a:lnTo>
                <a:lnTo>
                  <a:pt x="5448300" y="1463040"/>
                </a:lnTo>
                <a:lnTo>
                  <a:pt x="5613082" y="1285875"/>
                </a:lnTo>
                <a:lnTo>
                  <a:pt x="5778818" y="1079182"/>
                </a:lnTo>
                <a:lnTo>
                  <a:pt x="5943600" y="857250"/>
                </a:lnTo>
                <a:lnTo>
                  <a:pt x="6108382" y="635317"/>
                </a:lnTo>
                <a:lnTo>
                  <a:pt x="6274118" y="428625"/>
                </a:lnTo>
                <a:lnTo>
                  <a:pt x="6438900" y="251460"/>
                </a:lnTo>
                <a:lnTo>
                  <a:pt x="6603682" y="115253"/>
                </a:lnTo>
                <a:lnTo>
                  <a:pt x="6769418" y="29528"/>
                </a:lnTo>
                <a:lnTo>
                  <a:pt x="6934200" y="0"/>
                </a:lnTo>
                <a:lnTo>
                  <a:pt x="7098982" y="29528"/>
                </a:lnTo>
                <a:lnTo>
                  <a:pt x="7264718" y="115253"/>
                </a:lnTo>
                <a:lnTo>
                  <a:pt x="7429500" y="251460"/>
                </a:lnTo>
                <a:lnTo>
                  <a:pt x="7594282" y="428625"/>
                </a:lnTo>
                <a:lnTo>
                  <a:pt x="7760018" y="635317"/>
                </a:lnTo>
                <a:lnTo>
                  <a:pt x="7924800" y="857250"/>
                </a:lnTo>
                <a:lnTo>
                  <a:pt x="8089582" y="1079182"/>
                </a:lnTo>
                <a:lnTo>
                  <a:pt x="8255318" y="1285875"/>
                </a:lnTo>
                <a:lnTo>
                  <a:pt x="8420100" y="1463040"/>
                </a:lnTo>
                <a:lnTo>
                  <a:pt x="8584882" y="1599247"/>
                </a:lnTo>
                <a:lnTo>
                  <a:pt x="8750618" y="1684972"/>
                </a:lnTo>
                <a:lnTo>
                  <a:pt x="8915400" y="1714500"/>
                </a:lnTo>
                <a:lnTo>
                  <a:pt x="9080182" y="1684972"/>
                </a:lnTo>
                <a:lnTo>
                  <a:pt x="9245918" y="1599247"/>
                </a:lnTo>
                <a:lnTo>
                  <a:pt x="9410700" y="1463040"/>
                </a:lnTo>
                <a:lnTo>
                  <a:pt x="9575482" y="1285875"/>
                </a:lnTo>
                <a:lnTo>
                  <a:pt x="9741218" y="1079182"/>
                </a:lnTo>
                <a:lnTo>
                  <a:pt x="9906000" y="857250"/>
                </a:lnTo>
              </a:path>
            </a:pathLst>
          </a:custGeom>
          <a:noFill/>
          <a:ln w="23812">
            <a:solidFill>
              <a:srgbClr val="FFFFFF">
                <a:alpha val="30000"/>
              </a:srgbClr>
            </a:solidFill>
          </a:ln>
        </p:spPr>
      </p:sp>
      <p:sp>
        <p:nvSpPr>
          <p:cNvPr id="3" name="Polyline 3"/>
          <p:cNvSpPr/>
          <p:nvPr/>
        </p:nvSpPr>
        <p:spPr>
          <a:xfrm>
            <a:off x="1143000" y="3238500"/>
            <a:ext cx="9906000" cy="1714500"/>
          </a:xfrm>
          <a:custGeom>
            <a:avLst/>
            <a:gdLst/>
            <a:ahLst/>
            <a:cxnLst/>
            <a:rect l="l" t="t" r="r" b="b"/>
            <a:pathLst>
              <a:path w="9906000" h="1714500">
                <a:moveTo>
                  <a:pt x="0" y="857250"/>
                </a:moveTo>
                <a:lnTo>
                  <a:pt x="164783" y="635317"/>
                </a:lnTo>
                <a:lnTo>
                  <a:pt x="330517" y="428625"/>
                </a:lnTo>
                <a:lnTo>
                  <a:pt x="495300" y="251460"/>
                </a:lnTo>
                <a:lnTo>
                  <a:pt x="660083" y="115253"/>
                </a:lnTo>
                <a:lnTo>
                  <a:pt x="825817" y="29528"/>
                </a:lnTo>
                <a:lnTo>
                  <a:pt x="990600" y="0"/>
                </a:lnTo>
                <a:lnTo>
                  <a:pt x="1155382" y="29528"/>
                </a:lnTo>
                <a:lnTo>
                  <a:pt x="1321118" y="115253"/>
                </a:lnTo>
                <a:lnTo>
                  <a:pt x="1485900" y="251460"/>
                </a:lnTo>
                <a:lnTo>
                  <a:pt x="1650682" y="428625"/>
                </a:lnTo>
                <a:lnTo>
                  <a:pt x="1816418" y="635317"/>
                </a:lnTo>
                <a:lnTo>
                  <a:pt x="1981200" y="857250"/>
                </a:lnTo>
                <a:lnTo>
                  <a:pt x="2145982" y="1079182"/>
                </a:lnTo>
                <a:lnTo>
                  <a:pt x="2311718" y="1285875"/>
                </a:lnTo>
                <a:lnTo>
                  <a:pt x="2476500" y="1463040"/>
                </a:lnTo>
                <a:lnTo>
                  <a:pt x="2641282" y="1599247"/>
                </a:lnTo>
                <a:lnTo>
                  <a:pt x="2807018" y="1684972"/>
                </a:lnTo>
                <a:lnTo>
                  <a:pt x="2971800" y="1714500"/>
                </a:lnTo>
                <a:lnTo>
                  <a:pt x="3136582" y="1684972"/>
                </a:lnTo>
                <a:lnTo>
                  <a:pt x="3302318" y="1599247"/>
                </a:lnTo>
                <a:lnTo>
                  <a:pt x="3467100" y="1463040"/>
                </a:lnTo>
                <a:lnTo>
                  <a:pt x="3631882" y="1285875"/>
                </a:lnTo>
                <a:lnTo>
                  <a:pt x="3797618" y="1079182"/>
                </a:lnTo>
                <a:lnTo>
                  <a:pt x="3962400" y="857250"/>
                </a:lnTo>
                <a:lnTo>
                  <a:pt x="4127182" y="635317"/>
                </a:lnTo>
                <a:lnTo>
                  <a:pt x="4292918" y="428625"/>
                </a:lnTo>
                <a:lnTo>
                  <a:pt x="4457700" y="251460"/>
                </a:lnTo>
                <a:lnTo>
                  <a:pt x="4622482" y="115253"/>
                </a:lnTo>
                <a:lnTo>
                  <a:pt x="4788218" y="29528"/>
                </a:lnTo>
                <a:lnTo>
                  <a:pt x="4953000" y="0"/>
                </a:lnTo>
                <a:lnTo>
                  <a:pt x="5117782" y="29528"/>
                </a:lnTo>
                <a:lnTo>
                  <a:pt x="5283518" y="115253"/>
                </a:lnTo>
                <a:lnTo>
                  <a:pt x="5448300" y="251460"/>
                </a:lnTo>
                <a:lnTo>
                  <a:pt x="5613082" y="428625"/>
                </a:lnTo>
                <a:lnTo>
                  <a:pt x="5778818" y="635317"/>
                </a:lnTo>
                <a:lnTo>
                  <a:pt x="5943600" y="857250"/>
                </a:lnTo>
                <a:lnTo>
                  <a:pt x="6108382" y="1079182"/>
                </a:lnTo>
                <a:lnTo>
                  <a:pt x="6274118" y="1285875"/>
                </a:lnTo>
                <a:lnTo>
                  <a:pt x="6438900" y="1463040"/>
                </a:lnTo>
                <a:lnTo>
                  <a:pt x="6603682" y="1599247"/>
                </a:lnTo>
                <a:lnTo>
                  <a:pt x="6769418" y="1684972"/>
                </a:lnTo>
                <a:lnTo>
                  <a:pt x="6934200" y="1714500"/>
                </a:lnTo>
                <a:lnTo>
                  <a:pt x="7098982" y="1684972"/>
                </a:lnTo>
                <a:lnTo>
                  <a:pt x="7264718" y="1599247"/>
                </a:lnTo>
                <a:lnTo>
                  <a:pt x="7429500" y="1463040"/>
                </a:lnTo>
                <a:lnTo>
                  <a:pt x="7594282" y="1285875"/>
                </a:lnTo>
                <a:lnTo>
                  <a:pt x="7760018" y="1079182"/>
                </a:lnTo>
                <a:lnTo>
                  <a:pt x="7924800" y="857250"/>
                </a:lnTo>
                <a:lnTo>
                  <a:pt x="8089582" y="635317"/>
                </a:lnTo>
                <a:lnTo>
                  <a:pt x="8255318" y="428625"/>
                </a:lnTo>
                <a:lnTo>
                  <a:pt x="8420100" y="251460"/>
                </a:lnTo>
                <a:lnTo>
                  <a:pt x="8584882" y="115253"/>
                </a:lnTo>
                <a:lnTo>
                  <a:pt x="8750618" y="29528"/>
                </a:lnTo>
                <a:lnTo>
                  <a:pt x="8915400" y="0"/>
                </a:lnTo>
                <a:lnTo>
                  <a:pt x="9080182" y="29528"/>
                </a:lnTo>
                <a:lnTo>
                  <a:pt x="9245918" y="115253"/>
                </a:lnTo>
                <a:lnTo>
                  <a:pt x="9410700" y="251460"/>
                </a:lnTo>
                <a:lnTo>
                  <a:pt x="9575482" y="428625"/>
                </a:lnTo>
                <a:lnTo>
                  <a:pt x="9741218" y="635317"/>
                </a:lnTo>
                <a:lnTo>
                  <a:pt x="9906000" y="857250"/>
                </a:lnTo>
              </a:path>
            </a:pathLst>
          </a:custGeom>
          <a:noFill/>
          <a:ln w="23812">
            <a:solidFill>
              <a:srgbClr val="FFFFFF">
                <a:alpha val="3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11430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197167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279082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36195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444817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526732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692467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774382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85725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940117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022032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110490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55142" y="1283018"/>
            <a:ext cx="52047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450" dirty="0">
                <a:solidFill>
                  <a:srgbClr val="FFFFFF">
                    <a:alphaMod val="72000"/>
                  </a:srgbClr>
                </a:solidFill>
                <a:latin typeface="+mn-lt"/>
                <a:ea typeface="+mn-ea"/>
                <a:cs typeface="+mn-cs"/>
              </a:rPr>
              <a:t>FUNCTIONAL GENOMICS · LECTURE 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2950" y="1975485"/>
            <a:ext cx="5409438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5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高通量测序技术</a:t>
            </a:r>
          </a:p>
        </p:txBody>
      </p:sp>
      <p:sp>
        <p:nvSpPr>
          <p:cNvPr id="19" name="Line 19"/>
          <p:cNvSpPr/>
          <p:nvPr/>
        </p:nvSpPr>
        <p:spPr>
          <a:xfrm>
            <a:off x="762000" y="30099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FFFFFF">
                <a:alpha val="6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48284" y="3328035"/>
            <a:ext cx="547954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27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从一台机器，到一张能分析的表格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4380" y="5172075"/>
            <a:ext cx="24686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70000"/>
                  </a:srgbClr>
                </a:solidFill>
                <a:latin typeface="Microsoft YaHei"/>
                <a:ea typeface="Microsoft YaHei"/>
                <a:cs typeface="Microsoft YaHei"/>
              </a:rPr>
              <a:t>功能基因组学 · 研究生课程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4380" y="5495925"/>
            <a:ext cx="35692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70000"/>
                  </a:srgbClr>
                </a:solidFill>
                <a:latin typeface="Microsoft YaHei"/>
                <a:ea typeface="Microsoft YaHei"/>
                <a:cs typeface="Microsoft YaHei"/>
              </a:rPr>
              <a:t>南方医科大学 基础医学院 生物信息学系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4380" y="58197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70000"/>
                  </a:srgbClr>
                </a:solidFill>
                <a:latin typeface="Microsoft YaHei"/>
                <a:ea typeface="Microsoft YaHei"/>
                <a:cs typeface="Microsoft YaHei"/>
              </a:rPr>
              <a:t>余光创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12384" y="651891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引言 · 一条读长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71581" y="65189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9FB0C4"/>
                </a:solidFill>
                <a:latin typeface="+mn-lt"/>
                <a:ea typeface="+mn-ea"/>
                <a:cs typeface="+mn-cs"/>
              </a:rPr>
              <a:t>1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6209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THE MYSTERY RECORD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439826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四行文本，先不解释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730407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这是 SRR001666 的第一条读长，36 个碱基——今天每个部分都会回到它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57500"/>
            <a:ext cx="6286500" cy="2952750"/>
          </a:xfrm>
          <a:prstGeom prst="roundRect">
            <a:avLst>
              <a:gd name="adj" fmla="val 3226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857500"/>
            <a:ext cx="6286500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42975" y="297180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114425" y="297180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285875" y="297180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221224" y="2937510"/>
            <a:ext cx="16619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SRR001666.fastq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023" y="3405664"/>
            <a:ext cx="54636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9FD4A8"/>
                </a:solidFill>
                <a:latin typeface="JetBrains Mono"/>
                <a:ea typeface="JetBrains Mono"/>
                <a:cs typeface="JetBrains Mono"/>
              </a:rPr>
              <a:t>1</a:t>
            </a:r>
            <a:r>
              <a:rPr lang="zh-Hans-CN" sz="1280" dirty="0">
                <a:solidFill>
                  <a:srgbClr val="4A6B93"/>
                </a:solidFill>
                <a:latin typeface="JetBrains Mono"/>
                <a:ea typeface="JetBrains Mono"/>
                <a:cs typeface="JetBrains Mono"/>
              </a:rPr>
              <a:t xml:space="preserve">  </a:t>
            </a:r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@SRR001666.1 071112_SLXA-EAS1_s_7:5:1:817:345 length=36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023" y="3786664"/>
            <a:ext cx="38160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9FD4A8"/>
                </a:solidFill>
                <a:latin typeface="JetBrains Mono"/>
                <a:ea typeface="JetBrains Mono"/>
                <a:cs typeface="JetBrains Mono"/>
              </a:rPr>
              <a:t>2</a:t>
            </a:r>
            <a:r>
              <a:rPr lang="zh-Hans-CN" sz="1280" dirty="0">
                <a:solidFill>
                  <a:srgbClr val="4A6B93"/>
                </a:solidFill>
                <a:latin typeface="JetBrains Mono"/>
                <a:ea typeface="JetBrains Mono"/>
                <a:cs typeface="JetBrains Mono"/>
              </a:rPr>
              <a:t xml:space="preserve">  </a:t>
            </a:r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GGGTGATGGCCGCTGCCGATGGCGTCAAATCCCACC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023" y="4167664"/>
            <a:ext cx="54636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9FD4A8"/>
                </a:solidFill>
                <a:latin typeface="JetBrains Mono"/>
                <a:ea typeface="JetBrains Mono"/>
                <a:cs typeface="JetBrains Mono"/>
              </a:rPr>
              <a:t>3</a:t>
            </a:r>
            <a:r>
              <a:rPr lang="zh-Hans-CN" sz="1280" dirty="0">
                <a:solidFill>
                  <a:srgbClr val="4A6B93"/>
                </a:solidFill>
                <a:latin typeface="JetBrains Mono"/>
                <a:ea typeface="JetBrains Mono"/>
                <a:cs typeface="JetBrains Mono"/>
              </a:rPr>
              <a:t xml:space="preserve">  </a:t>
            </a:r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+SRR001666.1 071112_SLXA-EAS1_s_7:5:1:817:345 length=36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023" y="4548664"/>
            <a:ext cx="23595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9FD4A8"/>
                </a:solidFill>
                <a:latin typeface="JetBrains Mono"/>
                <a:ea typeface="JetBrains Mono"/>
                <a:cs typeface="JetBrains Mono"/>
              </a:rPr>
              <a:t>4</a:t>
            </a:r>
            <a:r>
              <a:rPr lang="zh-Hans-CN" sz="1280" dirty="0">
                <a:solidFill>
                  <a:srgbClr val="4A6B93"/>
                </a:solidFill>
                <a:latin typeface="JetBrains Mono"/>
                <a:ea typeface="JetBrains Mono"/>
                <a:cs typeface="JetBrains Mono"/>
              </a:rPr>
              <a:t xml:space="preserve">  </a:t>
            </a:r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IIIIIIIIIIIIIIIIIIIIIIIIIIIIII9IG9IC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404" y="516636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7F9DC4"/>
                </a:solidFill>
                <a:latin typeface="Microsoft YaHei"/>
                <a:ea typeface="Microsoft YaHei"/>
                <a:cs typeface="Microsoft YaHei"/>
              </a:rPr>
              <a:t>四行原样照录，一个字符都没有改动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353300" y="27813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556754" y="27851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1 行为什么以 @ 开头，后面还跟着一串坐标？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353300" y="320992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556754" y="3213735"/>
            <a:ext cx="3127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2 行 36 个字母，为什么只有 A C G T？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353300" y="363855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556754" y="3642360"/>
            <a:ext cx="36388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3 行的 + 后面，为什么又重复了第 1 行的内容？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353300" y="406717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56754" y="4070985"/>
            <a:ext cx="31219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4 行也是字母——质量怎么会用字符表示？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353300" y="44958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556754" y="4499610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这四行的长度关系，藏着文件是否损坏的线索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82980" y="6067425"/>
            <a:ext cx="39251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先记住这 4 行——讲到结尾我们会回来对答案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12384" y="651891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引言 · 一条读长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1581" y="65189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2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0278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COURSE OUTLINE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439826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六个问题，一条读长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53477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六个问题都落在这条读长上，每个部分从不同角度读它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343150"/>
            <a:ext cx="5257800" cy="1123950"/>
          </a:xfrm>
          <a:prstGeom prst="roundRect">
            <a:avLst>
              <a:gd name="adj" fmla="val 847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343150"/>
            <a:ext cx="57150" cy="11239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47750" y="26079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900" b="1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20037" y="2537936"/>
            <a:ext cx="210144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测序技术的三代演进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22704" y="288036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每一代在解决上一代解决不了的问题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22704" y="31470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这条读长出自哪一代机器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27955" y="2594610"/>
            <a:ext cx="6693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525863"/>
                </a:solidFill>
                <a:latin typeface="+mn-lt"/>
                <a:ea typeface="+mn-ea"/>
                <a:cs typeface="+mn-cs"/>
              </a:rPr>
              <a:t>P04–P13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172200" y="2343150"/>
            <a:ext cx="5257800" cy="1123950"/>
          </a:xfrm>
          <a:prstGeom prst="roundRect">
            <a:avLst>
              <a:gd name="adj" fmla="val 847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172200" y="2343150"/>
            <a:ext cx="57150" cy="11239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57950" y="26079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900" b="1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0237" y="2537936"/>
            <a:ext cx="190515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Illumina 测序原理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2904" y="288036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建库、成簇、测序、比对四步拆开看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2904" y="3147060"/>
            <a:ext cx="20153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36 个碱基是怎么被读出来的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38155" y="2594610"/>
            <a:ext cx="6693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525863"/>
                </a:solidFill>
                <a:latin typeface="+mn-lt"/>
                <a:ea typeface="+mn-ea"/>
                <a:cs typeface="+mn-cs"/>
              </a:rPr>
              <a:t>P14–P28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543300"/>
            <a:ext cx="5257800" cy="1123950"/>
          </a:xfrm>
          <a:prstGeom prst="roundRect">
            <a:avLst>
              <a:gd name="adj" fmla="val 847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762000" y="3543300"/>
            <a:ext cx="57150" cy="11239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47750" y="380809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900" b="1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20037" y="3738086"/>
            <a:ext cx="140680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测序能做什么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22704" y="4080510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同一台机器，为什么能做完全不同的实验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22704" y="43472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这条读长能回答哪一类问题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27955" y="3794760"/>
            <a:ext cx="6693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525863"/>
                </a:solidFill>
                <a:latin typeface="+mn-lt"/>
                <a:ea typeface="+mn-ea"/>
                <a:cs typeface="+mn-cs"/>
              </a:rPr>
              <a:t>P29–P36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172200" y="3543300"/>
            <a:ext cx="5257800" cy="1123950"/>
          </a:xfrm>
          <a:prstGeom prst="roundRect">
            <a:avLst>
              <a:gd name="adj" fmla="val 847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172200" y="3543300"/>
            <a:ext cx="57150" cy="11239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457950" y="380809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900" b="1" dirty="0">
                <a:solidFill>
                  <a:srgbClr val="7534B7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30237" y="3738086"/>
            <a:ext cx="210144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六种必须认识的格式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32904" y="4080510"/>
            <a:ext cx="2743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FASTA 到 VCF：数据落地的六种形状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32904" y="43472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7534B7"/>
                </a:solidFill>
                <a:latin typeface="Microsoft YaHei"/>
                <a:ea typeface="Microsoft YaHei"/>
                <a:cs typeface="Microsoft YaHei"/>
              </a:rPr>
              <a:t>四行文本原来是一种格式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538155" y="3794760"/>
            <a:ext cx="6693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525863"/>
                </a:solidFill>
                <a:latin typeface="+mn-lt"/>
                <a:ea typeface="+mn-ea"/>
                <a:cs typeface="+mn-cs"/>
              </a:rPr>
              <a:t>P37–P65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4743450"/>
            <a:ext cx="5257800" cy="1123950"/>
          </a:xfrm>
          <a:prstGeom prst="roundRect">
            <a:avLst>
              <a:gd name="adj" fmla="val 847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762000" y="4743450"/>
            <a:ext cx="57150" cy="11239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47750" y="50082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900" b="1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20037" y="4938236"/>
            <a:ext cx="194844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R 里的基因组数据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22704" y="5280660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把区间当成一等公民，再谈定量与标准化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22704" y="5547360"/>
            <a:ext cx="19153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这条读长在 R 里长什么样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27955" y="4994910"/>
            <a:ext cx="6693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525863"/>
                </a:solidFill>
                <a:latin typeface="+mn-lt"/>
                <a:ea typeface="+mn-ea"/>
                <a:cs typeface="+mn-cs"/>
              </a:rPr>
              <a:t>P66–P84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172200" y="4743450"/>
            <a:ext cx="5257800" cy="1123950"/>
          </a:xfrm>
          <a:prstGeom prst="roundRect">
            <a:avLst>
              <a:gd name="adj" fmla="val 847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6172200" y="4743450"/>
            <a:ext cx="57150" cy="11239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457950" y="50082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900" b="1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230237" y="4938236"/>
            <a:ext cx="1175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上机与收束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232904" y="5280660"/>
            <a:ext cx="24838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四个练习 + 八个坑 + 一条学习路径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232904" y="55473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亲手把这条读长读一遍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538155" y="4994910"/>
            <a:ext cx="6693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525863"/>
                </a:solidFill>
                <a:latin typeface="+mn-lt"/>
                <a:ea typeface="+mn-ea"/>
                <a:cs typeface="+mn-cs"/>
              </a:rPr>
              <a:t>P85–P96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82980" y="6067425"/>
            <a:ext cx="4053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读到最后对答案：那四行文本，你会全部读懂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512384" y="651891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引言 · 一条读长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971581" y="65189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3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yline 2"/>
          <p:cNvSpPr/>
          <p:nvPr/>
        </p:nvSpPr>
        <p:spPr>
          <a:xfrm>
            <a:off x="1143000" y="3238500"/>
            <a:ext cx="9906000" cy="1714500"/>
          </a:xfrm>
          <a:custGeom>
            <a:avLst/>
            <a:gdLst/>
            <a:ahLst/>
            <a:cxnLst/>
            <a:rect l="l" t="t" r="r" b="b"/>
            <a:pathLst>
              <a:path w="9906000" h="1714500">
                <a:moveTo>
                  <a:pt x="0" y="857250"/>
                </a:moveTo>
                <a:lnTo>
                  <a:pt x="164783" y="1079182"/>
                </a:lnTo>
                <a:lnTo>
                  <a:pt x="330517" y="1285875"/>
                </a:lnTo>
                <a:lnTo>
                  <a:pt x="495300" y="1463040"/>
                </a:lnTo>
                <a:lnTo>
                  <a:pt x="660083" y="1599247"/>
                </a:lnTo>
                <a:lnTo>
                  <a:pt x="825817" y="1684972"/>
                </a:lnTo>
                <a:lnTo>
                  <a:pt x="990600" y="1714500"/>
                </a:lnTo>
                <a:lnTo>
                  <a:pt x="1155382" y="1684972"/>
                </a:lnTo>
                <a:lnTo>
                  <a:pt x="1321118" y="1599247"/>
                </a:lnTo>
                <a:lnTo>
                  <a:pt x="1485900" y="1463040"/>
                </a:lnTo>
                <a:lnTo>
                  <a:pt x="1650682" y="1285875"/>
                </a:lnTo>
                <a:lnTo>
                  <a:pt x="1816418" y="1079182"/>
                </a:lnTo>
                <a:lnTo>
                  <a:pt x="1981200" y="857250"/>
                </a:lnTo>
                <a:lnTo>
                  <a:pt x="2145982" y="635317"/>
                </a:lnTo>
                <a:lnTo>
                  <a:pt x="2311718" y="428625"/>
                </a:lnTo>
                <a:lnTo>
                  <a:pt x="2476500" y="251460"/>
                </a:lnTo>
                <a:lnTo>
                  <a:pt x="2641282" y="115253"/>
                </a:lnTo>
                <a:lnTo>
                  <a:pt x="2807018" y="29528"/>
                </a:lnTo>
                <a:lnTo>
                  <a:pt x="2971800" y="0"/>
                </a:lnTo>
                <a:lnTo>
                  <a:pt x="3136582" y="29528"/>
                </a:lnTo>
                <a:lnTo>
                  <a:pt x="3302318" y="115253"/>
                </a:lnTo>
                <a:lnTo>
                  <a:pt x="3467100" y="251460"/>
                </a:lnTo>
                <a:lnTo>
                  <a:pt x="3631882" y="428625"/>
                </a:lnTo>
                <a:lnTo>
                  <a:pt x="3797618" y="635317"/>
                </a:lnTo>
                <a:lnTo>
                  <a:pt x="3962400" y="857250"/>
                </a:lnTo>
                <a:lnTo>
                  <a:pt x="4127182" y="1079182"/>
                </a:lnTo>
                <a:lnTo>
                  <a:pt x="4292918" y="1285875"/>
                </a:lnTo>
                <a:lnTo>
                  <a:pt x="4457700" y="1463040"/>
                </a:lnTo>
                <a:lnTo>
                  <a:pt x="4622482" y="1599247"/>
                </a:lnTo>
                <a:lnTo>
                  <a:pt x="4788218" y="1684972"/>
                </a:lnTo>
                <a:lnTo>
                  <a:pt x="4953000" y="1714500"/>
                </a:lnTo>
                <a:lnTo>
                  <a:pt x="5117782" y="1684972"/>
                </a:lnTo>
                <a:lnTo>
                  <a:pt x="5283518" y="1599247"/>
                </a:lnTo>
                <a:lnTo>
                  <a:pt x="5448300" y="1463040"/>
                </a:lnTo>
                <a:lnTo>
                  <a:pt x="5613082" y="1285875"/>
                </a:lnTo>
                <a:lnTo>
                  <a:pt x="5778818" y="1079182"/>
                </a:lnTo>
                <a:lnTo>
                  <a:pt x="5943600" y="857250"/>
                </a:lnTo>
                <a:lnTo>
                  <a:pt x="6108382" y="635317"/>
                </a:lnTo>
                <a:lnTo>
                  <a:pt x="6274118" y="428625"/>
                </a:lnTo>
                <a:lnTo>
                  <a:pt x="6438900" y="251460"/>
                </a:lnTo>
                <a:lnTo>
                  <a:pt x="6603682" y="115253"/>
                </a:lnTo>
                <a:lnTo>
                  <a:pt x="6769418" y="29528"/>
                </a:lnTo>
                <a:lnTo>
                  <a:pt x="6934200" y="0"/>
                </a:lnTo>
                <a:lnTo>
                  <a:pt x="7098982" y="29528"/>
                </a:lnTo>
                <a:lnTo>
                  <a:pt x="7264718" y="115253"/>
                </a:lnTo>
                <a:lnTo>
                  <a:pt x="7429500" y="251460"/>
                </a:lnTo>
                <a:lnTo>
                  <a:pt x="7594282" y="428625"/>
                </a:lnTo>
                <a:lnTo>
                  <a:pt x="7760018" y="635317"/>
                </a:lnTo>
                <a:lnTo>
                  <a:pt x="7924800" y="857250"/>
                </a:lnTo>
                <a:lnTo>
                  <a:pt x="8089582" y="1079182"/>
                </a:lnTo>
                <a:lnTo>
                  <a:pt x="8255318" y="1285875"/>
                </a:lnTo>
                <a:lnTo>
                  <a:pt x="8420100" y="1463040"/>
                </a:lnTo>
                <a:lnTo>
                  <a:pt x="8584882" y="1599247"/>
                </a:lnTo>
                <a:lnTo>
                  <a:pt x="8750618" y="1684972"/>
                </a:lnTo>
                <a:lnTo>
                  <a:pt x="8915400" y="1714500"/>
                </a:lnTo>
                <a:lnTo>
                  <a:pt x="9080182" y="1684972"/>
                </a:lnTo>
                <a:lnTo>
                  <a:pt x="9245918" y="1599247"/>
                </a:lnTo>
                <a:lnTo>
                  <a:pt x="9410700" y="1463040"/>
                </a:lnTo>
                <a:lnTo>
                  <a:pt x="9575482" y="1285875"/>
                </a:lnTo>
                <a:lnTo>
                  <a:pt x="9741218" y="1079182"/>
                </a:lnTo>
                <a:lnTo>
                  <a:pt x="9906000" y="857250"/>
                </a:lnTo>
              </a:path>
            </a:pathLst>
          </a:custGeom>
          <a:noFill/>
          <a:ln w="23812">
            <a:solidFill>
              <a:srgbClr val="FFFFFF">
                <a:alpha val="30000"/>
              </a:srgbClr>
            </a:solidFill>
          </a:ln>
        </p:spPr>
      </p:sp>
      <p:sp>
        <p:nvSpPr>
          <p:cNvPr id="3" name="Polyline 3"/>
          <p:cNvSpPr/>
          <p:nvPr/>
        </p:nvSpPr>
        <p:spPr>
          <a:xfrm>
            <a:off x="1143000" y="3238500"/>
            <a:ext cx="9906000" cy="1714500"/>
          </a:xfrm>
          <a:custGeom>
            <a:avLst/>
            <a:gdLst/>
            <a:ahLst/>
            <a:cxnLst/>
            <a:rect l="l" t="t" r="r" b="b"/>
            <a:pathLst>
              <a:path w="9906000" h="1714500">
                <a:moveTo>
                  <a:pt x="0" y="857250"/>
                </a:moveTo>
                <a:lnTo>
                  <a:pt x="164783" y="635317"/>
                </a:lnTo>
                <a:lnTo>
                  <a:pt x="330517" y="428625"/>
                </a:lnTo>
                <a:lnTo>
                  <a:pt x="495300" y="251460"/>
                </a:lnTo>
                <a:lnTo>
                  <a:pt x="660083" y="115253"/>
                </a:lnTo>
                <a:lnTo>
                  <a:pt x="825817" y="29528"/>
                </a:lnTo>
                <a:lnTo>
                  <a:pt x="990600" y="0"/>
                </a:lnTo>
                <a:lnTo>
                  <a:pt x="1155382" y="29528"/>
                </a:lnTo>
                <a:lnTo>
                  <a:pt x="1321118" y="115253"/>
                </a:lnTo>
                <a:lnTo>
                  <a:pt x="1485900" y="251460"/>
                </a:lnTo>
                <a:lnTo>
                  <a:pt x="1650682" y="428625"/>
                </a:lnTo>
                <a:lnTo>
                  <a:pt x="1816418" y="635317"/>
                </a:lnTo>
                <a:lnTo>
                  <a:pt x="1981200" y="857250"/>
                </a:lnTo>
                <a:lnTo>
                  <a:pt x="2145982" y="1079182"/>
                </a:lnTo>
                <a:lnTo>
                  <a:pt x="2311718" y="1285875"/>
                </a:lnTo>
                <a:lnTo>
                  <a:pt x="2476500" y="1463040"/>
                </a:lnTo>
                <a:lnTo>
                  <a:pt x="2641282" y="1599247"/>
                </a:lnTo>
                <a:lnTo>
                  <a:pt x="2807018" y="1684972"/>
                </a:lnTo>
                <a:lnTo>
                  <a:pt x="2971800" y="1714500"/>
                </a:lnTo>
                <a:lnTo>
                  <a:pt x="3136582" y="1684972"/>
                </a:lnTo>
                <a:lnTo>
                  <a:pt x="3302318" y="1599247"/>
                </a:lnTo>
                <a:lnTo>
                  <a:pt x="3467100" y="1463040"/>
                </a:lnTo>
                <a:lnTo>
                  <a:pt x="3631882" y="1285875"/>
                </a:lnTo>
                <a:lnTo>
                  <a:pt x="3797618" y="1079182"/>
                </a:lnTo>
                <a:lnTo>
                  <a:pt x="3962400" y="857250"/>
                </a:lnTo>
                <a:lnTo>
                  <a:pt x="4127182" y="635317"/>
                </a:lnTo>
                <a:lnTo>
                  <a:pt x="4292918" y="428625"/>
                </a:lnTo>
                <a:lnTo>
                  <a:pt x="4457700" y="251460"/>
                </a:lnTo>
                <a:lnTo>
                  <a:pt x="4622482" y="115253"/>
                </a:lnTo>
                <a:lnTo>
                  <a:pt x="4788218" y="29528"/>
                </a:lnTo>
                <a:lnTo>
                  <a:pt x="4953000" y="0"/>
                </a:lnTo>
                <a:lnTo>
                  <a:pt x="5117782" y="29528"/>
                </a:lnTo>
                <a:lnTo>
                  <a:pt x="5283518" y="115253"/>
                </a:lnTo>
                <a:lnTo>
                  <a:pt x="5448300" y="251460"/>
                </a:lnTo>
                <a:lnTo>
                  <a:pt x="5613082" y="428625"/>
                </a:lnTo>
                <a:lnTo>
                  <a:pt x="5778818" y="635317"/>
                </a:lnTo>
                <a:lnTo>
                  <a:pt x="5943600" y="857250"/>
                </a:lnTo>
                <a:lnTo>
                  <a:pt x="6108382" y="1079182"/>
                </a:lnTo>
                <a:lnTo>
                  <a:pt x="6274118" y="1285875"/>
                </a:lnTo>
                <a:lnTo>
                  <a:pt x="6438900" y="1463040"/>
                </a:lnTo>
                <a:lnTo>
                  <a:pt x="6603682" y="1599247"/>
                </a:lnTo>
                <a:lnTo>
                  <a:pt x="6769418" y="1684972"/>
                </a:lnTo>
                <a:lnTo>
                  <a:pt x="6934200" y="1714500"/>
                </a:lnTo>
                <a:lnTo>
                  <a:pt x="7098982" y="1684972"/>
                </a:lnTo>
                <a:lnTo>
                  <a:pt x="7264718" y="1599247"/>
                </a:lnTo>
                <a:lnTo>
                  <a:pt x="7429500" y="1463040"/>
                </a:lnTo>
                <a:lnTo>
                  <a:pt x="7594282" y="1285875"/>
                </a:lnTo>
                <a:lnTo>
                  <a:pt x="7760018" y="1079182"/>
                </a:lnTo>
                <a:lnTo>
                  <a:pt x="7924800" y="857250"/>
                </a:lnTo>
                <a:lnTo>
                  <a:pt x="8089582" y="635317"/>
                </a:lnTo>
                <a:lnTo>
                  <a:pt x="8255318" y="428625"/>
                </a:lnTo>
                <a:lnTo>
                  <a:pt x="8420100" y="251460"/>
                </a:lnTo>
                <a:lnTo>
                  <a:pt x="8584882" y="115253"/>
                </a:lnTo>
                <a:lnTo>
                  <a:pt x="8750618" y="29528"/>
                </a:lnTo>
                <a:lnTo>
                  <a:pt x="8915400" y="0"/>
                </a:lnTo>
                <a:lnTo>
                  <a:pt x="9080182" y="29528"/>
                </a:lnTo>
                <a:lnTo>
                  <a:pt x="9245918" y="115253"/>
                </a:lnTo>
                <a:lnTo>
                  <a:pt x="9410700" y="251460"/>
                </a:lnTo>
                <a:lnTo>
                  <a:pt x="9575482" y="428625"/>
                </a:lnTo>
                <a:lnTo>
                  <a:pt x="9741218" y="635317"/>
                </a:lnTo>
                <a:lnTo>
                  <a:pt x="9906000" y="857250"/>
                </a:lnTo>
              </a:path>
            </a:pathLst>
          </a:custGeom>
          <a:noFill/>
          <a:ln w="23812">
            <a:solidFill>
              <a:srgbClr val="FFFFFF">
                <a:alpha val="3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11430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197167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279082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36195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444817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526732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692467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774382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85725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940117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022032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110490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55142" y="1073468"/>
            <a:ext cx="10250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75" dirty="0">
                <a:solidFill>
                  <a:srgbClr val="FFFFFF">
                    <a:alphaMod val="75000"/>
                  </a:srgbClr>
                </a:solidFill>
                <a:latin typeface="+mn-lt"/>
                <a:ea typeface="+mn-ea"/>
                <a:cs typeface="+mn-cs"/>
              </a:rPr>
              <a:t>PART 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45117" y="990600"/>
            <a:ext cx="1903933" cy="2305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0" b="1" dirty="0">
                <a:solidFill>
                  <a:srgbClr val="FFFFFF">
                    <a:alphaMod val="16000"/>
                  </a:srgbClr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2950" y="1651635"/>
            <a:ext cx="6944106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5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测序技术的三代演进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2094" y="2608898"/>
            <a:ext cx="448246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950" dirty="0">
                <a:solidFill>
                  <a:srgbClr val="FFFFFF">
                    <a:alphaMod val="82000"/>
                  </a:srgbClr>
                </a:solidFill>
                <a:latin typeface="Microsoft YaHei"/>
                <a:ea typeface="Microsoft YaHei"/>
                <a:cs typeface="Microsoft YaHei"/>
              </a:rPr>
              <a:t>每一代解决的是上一代解决不了的问题</a:t>
            </a:r>
          </a:p>
        </p:txBody>
      </p:sp>
      <p:sp>
        <p:nvSpPr>
          <p:cNvPr id="21" name="Line 21"/>
          <p:cNvSpPr/>
          <p:nvPr/>
        </p:nvSpPr>
        <p:spPr>
          <a:xfrm>
            <a:off x="762000" y="32766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814388" y="37480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9180" y="3686175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第一代：读得长、读得准，但贵而慢</a:t>
            </a:r>
          </a:p>
        </p:txBody>
      </p:sp>
      <p:sp>
        <p:nvSpPr>
          <p:cNvPr id="24" name="Ellipse 24"/>
          <p:cNvSpPr/>
          <p:nvPr/>
        </p:nvSpPr>
        <p:spPr>
          <a:xfrm>
            <a:off x="814388" y="41671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59180" y="410527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第二代：读得便宜、读得多，但短</a:t>
            </a:r>
          </a:p>
        </p:txBody>
      </p:sp>
      <p:sp>
        <p:nvSpPr>
          <p:cNvPr id="26" name="Ellipse 26"/>
          <p:cNvSpPr/>
          <p:nvPr/>
        </p:nvSpPr>
        <p:spPr>
          <a:xfrm>
            <a:off x="814388" y="45862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59180" y="4524375"/>
            <a:ext cx="36499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第三代：又长又单分子，但错误率曾偏高</a:t>
            </a:r>
          </a:p>
        </p:txBody>
      </p:sp>
      <p:sp>
        <p:nvSpPr>
          <p:cNvPr id="28" name="Ellipse 28"/>
          <p:cNvSpPr/>
          <p:nvPr/>
        </p:nvSpPr>
        <p:spPr>
          <a:xfrm>
            <a:off x="814388" y="50053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59180" y="494347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今天：三代并存，各干各的活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50840" y="6518910"/>
            <a:ext cx="1490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第一部分 · 三代演进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1581" y="65189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9FB0C4"/>
                </a:solidFill>
                <a:latin typeface="+mn-lt"/>
                <a:ea typeface="+mn-ea"/>
                <a:cs typeface="+mn-cs"/>
              </a:rPr>
              <a:t>4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9894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DNA SEQUENCING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9345930" y="723900"/>
            <a:ext cx="2084070" cy="285750"/>
          </a:xfrm>
          <a:prstGeom prst="roundRect">
            <a:avLst>
              <a:gd name="adj" fmla="val 50000"/>
            </a:avLst>
          </a:prstGeom>
          <a:solidFill>
            <a:schemeClr val="accent6">
              <a:alpha val="12000"/>
            </a:scheme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501759" y="7943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这条读长出自第二代机器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3712" y="1211580"/>
            <a:ext cx="827532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每一代占一个生态位，谁也替代不了谁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618" y="184118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不是替代关系，而是分工关系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022" y="2495550"/>
            <a:ext cx="4021455" cy="3505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509004" y="6233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三代测序技术对比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2857500"/>
            <a:ext cx="2695575" cy="1123950"/>
          </a:xfrm>
          <a:prstGeom prst="roundRect">
            <a:avLst>
              <a:gd name="adj" fmla="val 8475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62000" y="2857500"/>
            <a:ext cx="47625" cy="11239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97280" y="2981325"/>
            <a:ext cx="24250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第一代 Sanger：可读 1 kb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7280" y="3228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质量高，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7280" y="3476625"/>
            <a:ext cx="21135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ABI 3730xl 高度自动化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743325" y="2857500"/>
            <a:ext cx="2695575" cy="1123950"/>
          </a:xfrm>
          <a:prstGeom prst="roundRect">
            <a:avLst>
              <a:gd name="adj" fmla="val 8475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743325" y="2857500"/>
            <a:ext cx="47625" cy="11239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078605" y="2981325"/>
            <a:ext cx="21379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第二代 Illumina / BGI /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78605" y="3228975"/>
            <a:ext cx="27211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IonTorrent：短读长、大规模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78605" y="34766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并行、高通量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4191000"/>
            <a:ext cx="2695575" cy="1123950"/>
          </a:xfrm>
          <a:prstGeom prst="roundRect">
            <a:avLst>
              <a:gd name="adj" fmla="val 8475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62000" y="4191000"/>
            <a:ext cx="47625" cy="11239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904875" y="43719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7280" y="4314825"/>
            <a:ext cx="21381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第二代通常需要把 RNA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7280" y="4562475"/>
            <a:ext cx="186766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逆转录成 cDNA 再测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743325" y="4191000"/>
            <a:ext cx="2695575" cy="1123950"/>
          </a:xfrm>
          <a:prstGeom prst="roundRect">
            <a:avLst>
              <a:gd name="adj" fmla="val 8475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3743325" y="4191000"/>
            <a:ext cx="47625" cy="11239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3886200" y="43719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78605" y="4314825"/>
            <a:ext cx="14965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第三代 PacBio /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78605" y="4562475"/>
            <a:ext cx="18880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Oxford Nanopore：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078605" y="48101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长读长、单分子、无需扩增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62000" y="5524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62000" y="5524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904875" y="5705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97280" y="564832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第三代有潜力测通整个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7280" y="5895975"/>
            <a:ext cx="8580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RNA 分子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350840" y="6518910"/>
            <a:ext cx="1490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第一部分 · 三代演进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971581" y="65189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5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2379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FIRST GENERATION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288603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第一代 Sanger：一次读一条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24601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过去的主力，今天仍在用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读长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218" y="3041332"/>
            <a:ext cx="45147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单次可达 1 kb，是三代中最长的稳定读长之一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5242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4504" y="35280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218" y="3746182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准确率极高，常作为验证其他平台结果的金标准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42291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4504" y="42329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通量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218" y="4451032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一次只能测少量片段，成本高，速度慢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461379" y="28232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自动化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9093" y="3041332"/>
            <a:ext cx="37029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ABI 3730xl 实现了毛细管电泳自动化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38875" y="35242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461379" y="35280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今天还在哪用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59093" y="3746182"/>
            <a:ext cx="485988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验证关键突变、Sanger 测序确认质粒、临床单基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59093" y="4031932"/>
            <a:ext cx="68313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因检测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82980" y="6067425"/>
            <a:ext cx="48624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Sanger 没有被淘汰，只是从「主力」退成了「裁判」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50840" y="6518910"/>
            <a:ext cx="1490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第一部分 · 三代演进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71581" y="65189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6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4726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SECOND GENERATION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82142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第二代：把反应摊到一个平面上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4592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把测序从「一个一个」变成了「一次几亿个」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核心变化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218" y="3041332"/>
            <a:ext cx="383120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大规模并行，一次运行产出 Gb 级数据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5242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4504" y="35280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代表平台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218" y="3746182"/>
            <a:ext cx="468650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Illumina、BGISeq、Ion Torrent（454 与 Solid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2218" y="40319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已退出）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45148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84504" y="45186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读长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2218" y="4736782"/>
            <a:ext cx="24601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短读长，通常 50—300 bp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61379" y="2823210"/>
            <a:ext cx="7030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RNA 处理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59093" y="3041332"/>
            <a:ext cx="31427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先逆转录为 cDNA，再进行测序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38875" y="35242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461379" y="35280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59093" y="374618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读长短带来比对歧义，后面会专门讲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82980" y="6067425"/>
            <a:ext cx="50634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第二代的贡献不是读得更准，而是读得足够多、足够便宜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50840" y="6518910"/>
            <a:ext cx="1490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第一部分 · 三代演进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71581" y="65189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7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2379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7534B7"/>
                </a:solidFill>
                <a:latin typeface="+mn-lt"/>
                <a:ea typeface="+mn-ea"/>
                <a:cs typeface="+mn-cs"/>
              </a:rPr>
              <a:t>THIRD GENERATION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30605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第三代：不扩增，直接读单条分子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72621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读长以万 bp 计，错误率曾是它的短板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7534B7"/>
                </a:solidFill>
                <a:latin typeface="Microsoft YaHei"/>
                <a:ea typeface="Microsoft YaHei"/>
                <a:cs typeface="Microsoft YaHei"/>
              </a:rPr>
              <a:t>代表平台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218" y="3041332"/>
            <a:ext cx="491646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PacBio（SMRT）、Oxford Nanopore（纳米孔）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524250"/>
            <a:ext cx="76200" cy="3238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4504" y="35280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7534B7"/>
                </a:solidFill>
                <a:latin typeface="Microsoft YaHei"/>
                <a:ea typeface="Microsoft YaHei"/>
                <a:cs typeface="Microsoft YaHei"/>
              </a:rPr>
              <a:t>核心优势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218" y="3746182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长读长，可以跨过重复元件与结构变异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4229100"/>
            <a:ext cx="76200" cy="3238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4504" y="42329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7534B7"/>
                </a:solidFill>
                <a:latin typeface="Microsoft YaHei"/>
                <a:ea typeface="Microsoft YaHei"/>
                <a:cs typeface="Microsoft YaHei"/>
              </a:rPr>
              <a:t>单分子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218" y="4451032"/>
            <a:ext cx="42999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无需 PCR 扩增，避免扩增偏好与丢失信息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461379" y="2823210"/>
            <a:ext cx="7030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7534B7"/>
                </a:solidFill>
                <a:latin typeface="Microsoft YaHei"/>
                <a:ea typeface="Microsoft YaHei"/>
                <a:cs typeface="Microsoft YaHei"/>
              </a:rPr>
              <a:t>RNA 潜力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9093" y="3041332"/>
            <a:ext cx="44592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有测通整个转录本的潜力，可直接判断异构体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38875" y="3524250"/>
            <a:ext cx="76200" cy="3238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461379" y="35280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7534B7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59093" y="3746182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单碱基错误率相对较高，通常靠深度或纠错弥补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82980" y="6067425"/>
            <a:ext cx="54673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长读长解决的是「看不清全貌」的问题，不是「读得准不准」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50840" y="6518910"/>
            <a:ext cx="1490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第一部分 · 三代演进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71581" y="65189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8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0858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COMPARE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读长、通量、错误率互相牵制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选平台的第一步：先问自己要回答什么问题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67000"/>
            <a:ext cx="10668000" cy="3810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606855" y="27851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第一代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35878" y="27851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第二代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61088" y="27851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第三代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3048000"/>
            <a:ext cx="10668000" cy="3810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70204" y="31661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代表平台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06855" y="3166110"/>
            <a:ext cx="15289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Sanger / ABI 3730xl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5878" y="3166110"/>
            <a:ext cx="21216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Illumina / BGI / Ion Torrent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61088" y="3166110"/>
            <a:ext cx="21677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PacBio Revio / ONT R10.4.1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0204" y="35471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读长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06855" y="3547110"/>
            <a:ext cx="6987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可达 1 kb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35878" y="3547110"/>
            <a:ext cx="7714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50—300 bp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61088" y="3547110"/>
            <a:ext cx="24231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HiFi 15–25 kb；ONT 10–100 kb+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810000"/>
            <a:ext cx="10668000" cy="3810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70204" y="39281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通量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06855" y="39281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极低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35878" y="3928110"/>
            <a:ext cx="13494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极高（Gb—Tb 级）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61088" y="39281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中—高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0204" y="43091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单碱基准确率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06855" y="43091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极高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35878" y="4309110"/>
            <a:ext cx="12326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高（Q30 以上）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61088" y="4309110"/>
            <a:ext cx="9851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校正后 Q30+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4572000"/>
            <a:ext cx="10668000" cy="3810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70204" y="46901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单分子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06855" y="4690110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35878" y="46901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否（需克隆扩增）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61088" y="4690110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70204" y="50711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典型用途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06855" y="50711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验证、单基因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35878" y="5071110"/>
            <a:ext cx="18161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RNA-seq、外显子、ChIP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61088" y="5071110"/>
            <a:ext cx="17361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组装、SV、全长转录本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62000" y="5334000"/>
            <a:ext cx="10668000" cy="3810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70204" y="54521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606855" y="5452110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35878" y="5452110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61088" y="54521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中—高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82980" y="6067425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没有最好的平台，只有最合适的问题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50840" y="6518910"/>
            <a:ext cx="1490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第一部分 · 三代演进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971581" y="65189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9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2625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PLATFORMS TODAY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三代平台，今天各自走到哪了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技术没有停下：每一代都还在往前跑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86050"/>
            <a:ext cx="5200650" cy="1438275"/>
          </a:xfrm>
          <a:prstGeom prst="roundRect">
            <a:avLst>
              <a:gd name="adj" fmla="val 794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686050"/>
            <a:ext cx="57150" cy="1438275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81837" y="2899886"/>
            <a:ext cx="163835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短读长继续进化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4504" y="3261360"/>
            <a:ext cx="47878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Illumina 于 2026 年 2 月公布 NovaSeq X 后续升级路线，聚焦数据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4504" y="3480435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据质量、更长读长与更高通量模式。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29350" y="2686050"/>
            <a:ext cx="5200650" cy="1438275"/>
          </a:xfrm>
          <a:prstGeom prst="roundRect">
            <a:avLst>
              <a:gd name="adj" fmla="val 794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229350" y="2686050"/>
            <a:ext cx="57150" cy="1438275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9187" y="2899886"/>
            <a:ext cx="186989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长读长准确率提升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51854" y="3261360"/>
            <a:ext cx="51012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PacBio 与 Oxford Nanopore 持续改善单碱基准确率，长读长在结构变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51854" y="3480435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异与组装场景的性价比明显提高。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4391025"/>
            <a:ext cx="5200650" cy="1438275"/>
          </a:xfrm>
          <a:prstGeom prst="roundRect">
            <a:avLst>
              <a:gd name="adj" fmla="val 794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762000" y="4391025"/>
            <a:ext cx="57150" cy="143827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81837" y="4604861"/>
            <a:ext cx="140680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原位测序兴起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4504" y="4966335"/>
            <a:ext cx="50673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10x Atera 等平台把全转录组测序做到单细胞分辨率的原位检测，测序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4504" y="5185410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从「磨碎组织」走向「保留空间位置」。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29350" y="4391025"/>
            <a:ext cx="5200650" cy="1438275"/>
          </a:xfrm>
          <a:prstGeom prst="roundRect">
            <a:avLst>
              <a:gd name="adj" fmla="val 794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229350" y="4391025"/>
            <a:ext cx="57150" cy="14382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449187" y="4604861"/>
            <a:ext cx="140680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国产平台成熟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51854" y="4966335"/>
            <a:ext cx="52864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华大 DNBSEQ 系列在多组学研究中被大规模使用，例如 2026 年发表于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51854" y="5185410"/>
            <a:ext cx="22758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Science 的免疫细胞图谱工作。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82980" y="6067425"/>
            <a:ext cx="48615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短读长与长读长不是替代关系，原位测序则是第三条路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50840" y="6518910"/>
            <a:ext cx="1490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第一部分 · 三代演进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10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21452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PLATFORM CHOICE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36752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平台选择：先问三个问题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72577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不是“二代还是三代”，而是“要保留哪一类证据”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724150"/>
            <a:ext cx="3295650" cy="2724150"/>
          </a:xfrm>
          <a:prstGeom prst="roundRect">
            <a:avLst>
              <a:gd name="adj" fmla="val 4196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724150"/>
            <a:ext cx="76200" cy="27241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58037" y="2976086"/>
            <a:ext cx="161346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① 我要看多少？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9180" y="340042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样本多、要比较平均表达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9180" y="3724275"/>
            <a:ext cx="1802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→ 短读长的通量优势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0704" y="42329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信息维度：数量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0704" y="463296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典型问题：组间差异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448175" y="2724150"/>
            <a:ext cx="3295650" cy="2724150"/>
          </a:xfrm>
          <a:prstGeom prst="roundRect">
            <a:avLst>
              <a:gd name="adj" fmla="val 4196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448175" y="2724150"/>
            <a:ext cx="76200" cy="27241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44212" y="2976086"/>
            <a:ext cx="161346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② 我要看多长？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45355" y="340042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异构体、重复、单倍型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45355" y="3724275"/>
            <a:ext cx="20042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→ 长读长保留连续证据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46879" y="42329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信息维度：长度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46879" y="46329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典型问题：结构与相位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134350" y="2724150"/>
            <a:ext cx="3295650" cy="2724150"/>
          </a:xfrm>
          <a:prstGeom prst="roundRect">
            <a:avLst>
              <a:gd name="adj" fmla="val 4196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134350" y="2724150"/>
            <a:ext cx="76200" cy="27241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30387" y="2976086"/>
            <a:ext cx="184500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③ 我要看在哪里？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31530" y="34004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细胞状态与组织位置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31530" y="37242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→ 单细胞/空间路线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33054" y="42329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信息维度：位置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33054" y="46329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典型问题：异质性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82980" y="6067425"/>
            <a:ext cx="35318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问题决定信息维度：数量 · 长度 · 位置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50840" y="6518910"/>
            <a:ext cx="1490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第一部分 · 三代演进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11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5925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KEY CONCEPT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79068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「高」在并行：一张平面几亿条反应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90347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关键在于把测序反应做在同一个平面上，并行进行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2858452"/>
            <a:ext cx="4762500" cy="278034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高通量测序的并行原理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3879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把文库摊在 flow cell 上，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每个片段单独成簇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所有簇同时进行测序反应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97280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一次成像采集所有簇的信号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078605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通量来自「并行度」，不是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078605" y="431482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「单个反应更快」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97280" y="51530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这也是为什么短读长与高通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7280" y="540067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量天然绑定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50840" y="6518910"/>
            <a:ext cx="1490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第一部分 · 三代演进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12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0858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小结：三代并存，各干各的活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每一代都在补上一代的短板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第一代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218" y="304133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长而准，但通量低，今天是验证工具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5242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4504" y="35280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第二代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218" y="3746182"/>
            <a:ext cx="33486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高通量低成本，短读长是它的代价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42291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4504" y="42329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第三代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218" y="4451032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长读长单分子，纠错是它的代价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461379" y="28232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今天的选择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9093" y="3041332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三代都还在进化：短读长继续提质量，长读长继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59093" y="332708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续提准确率，原位测序成了第三条路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38875" y="38100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461379" y="3813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选择逻辑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59093" y="4031932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先确定要回答的生物学问题，再决定读长与深度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5143500"/>
            <a:ext cx="10668000" cy="609600"/>
          </a:xfrm>
          <a:prstGeom prst="roundRect">
            <a:avLst>
              <a:gd name="adj" fmla="val 15625"/>
            </a:avLst>
          </a:prstGeom>
          <a:solidFill>
            <a:schemeClr val="lt1"/>
          </a:solidFill>
          <a:ln w="14288">
            <a:solidFill>
              <a:schemeClr val="accent6">
                <a:alpha val="35000"/>
              </a:schemeClr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62000" y="5143500"/>
            <a:ext cx="57150" cy="609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82980" y="5362575"/>
            <a:ext cx="85360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下一部分 · Illumina 测序原理</a:t>
            </a:r>
            <a:r>
              <a:rPr lang="zh-Hans-CN" sz="15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 xml:space="preserve"> —— 那条 36 bp 的读长，正是建库、成簇、测序、分析四步的产物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82980" y="6067425"/>
            <a:ext cx="62750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技术演进的方向一直是「更便宜、更多、更长」，但三者从未同时最优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50840" y="6518910"/>
            <a:ext cx="1490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第一部分 · 三代演进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13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239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6811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5384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3956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2529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101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9674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8246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76819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85391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964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2536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11109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8239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6811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25384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33956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42529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1101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59674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68246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76819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85391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93964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102536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111109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239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6811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25384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33956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42529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51101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59674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68246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76819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85391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93964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102536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111109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8239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16811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25384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33956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42529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51101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59674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68246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76819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85391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93964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102536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111109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8239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16811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25384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33956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8" name="Ellipse 58"/>
          <p:cNvSpPr/>
          <p:nvPr/>
        </p:nvSpPr>
        <p:spPr>
          <a:xfrm>
            <a:off x="42529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51101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0" name="Ellipse 60"/>
          <p:cNvSpPr/>
          <p:nvPr/>
        </p:nvSpPr>
        <p:spPr>
          <a:xfrm>
            <a:off x="59674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1" name="Ellipse 61"/>
          <p:cNvSpPr/>
          <p:nvPr/>
        </p:nvSpPr>
        <p:spPr>
          <a:xfrm>
            <a:off x="68246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2" name="Ellipse 62"/>
          <p:cNvSpPr/>
          <p:nvPr/>
        </p:nvSpPr>
        <p:spPr>
          <a:xfrm>
            <a:off x="76819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3" name="Ellipse 63"/>
          <p:cNvSpPr/>
          <p:nvPr/>
        </p:nvSpPr>
        <p:spPr>
          <a:xfrm>
            <a:off x="85391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93964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5" name="Ellipse 65"/>
          <p:cNvSpPr/>
          <p:nvPr/>
        </p:nvSpPr>
        <p:spPr>
          <a:xfrm>
            <a:off x="102536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111109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7" name="Ellipse 67"/>
          <p:cNvSpPr/>
          <p:nvPr/>
        </p:nvSpPr>
        <p:spPr>
          <a:xfrm>
            <a:off x="8239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8" name="Ellipse 68"/>
          <p:cNvSpPr/>
          <p:nvPr/>
        </p:nvSpPr>
        <p:spPr>
          <a:xfrm>
            <a:off x="16811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9" name="Ellipse 69"/>
          <p:cNvSpPr/>
          <p:nvPr/>
        </p:nvSpPr>
        <p:spPr>
          <a:xfrm>
            <a:off x="25384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33956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42529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2" name="Ellipse 72"/>
          <p:cNvSpPr/>
          <p:nvPr/>
        </p:nvSpPr>
        <p:spPr>
          <a:xfrm>
            <a:off x="51101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3" name="Ellipse 73"/>
          <p:cNvSpPr/>
          <p:nvPr/>
        </p:nvSpPr>
        <p:spPr>
          <a:xfrm>
            <a:off x="59674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68246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5" name="Ellipse 75"/>
          <p:cNvSpPr/>
          <p:nvPr/>
        </p:nvSpPr>
        <p:spPr>
          <a:xfrm>
            <a:off x="76819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6" name="Ellipse 76"/>
          <p:cNvSpPr/>
          <p:nvPr/>
        </p:nvSpPr>
        <p:spPr>
          <a:xfrm>
            <a:off x="85391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7" name="Ellipse 77"/>
          <p:cNvSpPr/>
          <p:nvPr/>
        </p:nvSpPr>
        <p:spPr>
          <a:xfrm>
            <a:off x="93964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8" name="Ellipse 78"/>
          <p:cNvSpPr/>
          <p:nvPr/>
        </p:nvSpPr>
        <p:spPr>
          <a:xfrm>
            <a:off x="102536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9" name="Ellipse 79"/>
          <p:cNvSpPr/>
          <p:nvPr/>
        </p:nvSpPr>
        <p:spPr>
          <a:xfrm>
            <a:off x="111109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0" name="Ellipse 80"/>
          <p:cNvSpPr/>
          <p:nvPr/>
        </p:nvSpPr>
        <p:spPr>
          <a:xfrm>
            <a:off x="8239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1" name="Ellipse 81"/>
          <p:cNvSpPr/>
          <p:nvPr/>
        </p:nvSpPr>
        <p:spPr>
          <a:xfrm>
            <a:off x="16811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2" name="Ellipse 82"/>
          <p:cNvSpPr/>
          <p:nvPr/>
        </p:nvSpPr>
        <p:spPr>
          <a:xfrm>
            <a:off x="25384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3" name="Ellipse 83"/>
          <p:cNvSpPr/>
          <p:nvPr/>
        </p:nvSpPr>
        <p:spPr>
          <a:xfrm>
            <a:off x="33956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4" name="Ellipse 84"/>
          <p:cNvSpPr/>
          <p:nvPr/>
        </p:nvSpPr>
        <p:spPr>
          <a:xfrm>
            <a:off x="42529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5" name="Ellipse 85"/>
          <p:cNvSpPr/>
          <p:nvPr/>
        </p:nvSpPr>
        <p:spPr>
          <a:xfrm>
            <a:off x="51101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6" name="Ellipse 86"/>
          <p:cNvSpPr/>
          <p:nvPr/>
        </p:nvSpPr>
        <p:spPr>
          <a:xfrm>
            <a:off x="59674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7" name="Ellipse 87"/>
          <p:cNvSpPr/>
          <p:nvPr/>
        </p:nvSpPr>
        <p:spPr>
          <a:xfrm>
            <a:off x="68246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8" name="Ellipse 88"/>
          <p:cNvSpPr/>
          <p:nvPr/>
        </p:nvSpPr>
        <p:spPr>
          <a:xfrm>
            <a:off x="76819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9" name="Ellipse 89"/>
          <p:cNvSpPr/>
          <p:nvPr/>
        </p:nvSpPr>
        <p:spPr>
          <a:xfrm>
            <a:off x="85391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0" name="Ellipse 90"/>
          <p:cNvSpPr/>
          <p:nvPr/>
        </p:nvSpPr>
        <p:spPr>
          <a:xfrm>
            <a:off x="93964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1" name="Ellipse 91"/>
          <p:cNvSpPr/>
          <p:nvPr/>
        </p:nvSpPr>
        <p:spPr>
          <a:xfrm>
            <a:off x="102536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2" name="Ellipse 92"/>
          <p:cNvSpPr/>
          <p:nvPr/>
        </p:nvSpPr>
        <p:spPr>
          <a:xfrm>
            <a:off x="111109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3" name="Freeform 93"/>
          <p:cNvSpPr/>
          <p:nvPr/>
        </p:nvSpPr>
        <p:spPr>
          <a:xfrm>
            <a:off x="1714500" y="2952750"/>
            <a:ext cx="3810000" cy="2952750"/>
          </a:xfrm>
          <a:custGeom>
            <a:avLst/>
            <a:gdLst/>
            <a:ahLst/>
            <a:cxnLst/>
            <a:rect l="l" t="t" r="r" b="b"/>
            <a:pathLst>
              <a:path w="3810000" h="2952750">
                <a:moveTo>
                  <a:pt x="0" y="295275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rgbClr val="FFFFFF">
                <a:alpha val="45000"/>
              </a:srgbClr>
            </a:solidFill>
          </a:ln>
        </p:spPr>
      </p:sp>
      <p:sp>
        <p:nvSpPr>
          <p:cNvPr id="94" name="Freeform 94"/>
          <p:cNvSpPr/>
          <p:nvPr/>
        </p:nvSpPr>
        <p:spPr>
          <a:xfrm>
            <a:off x="3143250" y="2952750"/>
            <a:ext cx="3810000" cy="2952750"/>
          </a:xfrm>
          <a:custGeom>
            <a:avLst/>
            <a:gdLst/>
            <a:ahLst/>
            <a:cxnLst/>
            <a:rect l="l" t="t" r="r" b="b"/>
            <a:pathLst>
              <a:path w="3810000" h="2952750">
                <a:moveTo>
                  <a:pt x="0" y="295275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rgbClr val="FFFFFF">
                <a:alpha val="33000"/>
              </a:srgbClr>
            </a:solidFill>
          </a:ln>
        </p:spPr>
      </p:sp>
      <p:sp>
        <p:nvSpPr>
          <p:cNvPr id="95" name="Freeform 95"/>
          <p:cNvSpPr/>
          <p:nvPr/>
        </p:nvSpPr>
        <p:spPr>
          <a:xfrm>
            <a:off x="4572000" y="2952750"/>
            <a:ext cx="3810000" cy="2952750"/>
          </a:xfrm>
          <a:custGeom>
            <a:avLst/>
            <a:gdLst/>
            <a:ahLst/>
            <a:cxnLst/>
            <a:rect l="l" t="t" r="r" b="b"/>
            <a:pathLst>
              <a:path w="3810000" h="2952750">
                <a:moveTo>
                  <a:pt x="0" y="295275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rgbClr val="FFFFFF">
                <a:alpha val="21000"/>
              </a:srgbClr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755142" y="1073468"/>
            <a:ext cx="10250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75" dirty="0">
                <a:solidFill>
                  <a:srgbClr val="FFFFFF">
                    <a:alphaMod val="75000"/>
                  </a:srgbClr>
                </a:solidFill>
                <a:latin typeface="+mn-lt"/>
                <a:ea typeface="+mn-ea"/>
                <a:cs typeface="+mn-cs"/>
              </a:rPr>
              <a:t>PART 02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545117" y="990600"/>
            <a:ext cx="1903933" cy="2305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0" b="1" dirty="0">
                <a:solidFill>
                  <a:srgbClr val="FFFFFF">
                    <a:alphaMod val="16000"/>
                  </a:srgbClr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42950" y="1651635"/>
            <a:ext cx="6293619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5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Illumina 测序原理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752094" y="2608898"/>
            <a:ext cx="542848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950" dirty="0">
                <a:solidFill>
                  <a:srgbClr val="FFFFFF">
                    <a:alphaMod val="82000"/>
                  </a:srgbClr>
                </a:solidFill>
                <a:latin typeface="Microsoft YaHei"/>
                <a:ea typeface="Microsoft YaHei"/>
                <a:cs typeface="Microsoft YaHei"/>
              </a:rPr>
              <a:t>边合成边测序：四个步骤，从 DNA 到 FASTQ</a:t>
            </a:r>
          </a:p>
        </p:txBody>
      </p:sp>
      <p:sp>
        <p:nvSpPr>
          <p:cNvPr id="100" name="Line 100"/>
          <p:cNvSpPr/>
          <p:nvPr/>
        </p:nvSpPr>
        <p:spPr>
          <a:xfrm>
            <a:off x="762000" y="32766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</p:sp>
      <p:sp>
        <p:nvSpPr>
          <p:cNvPr id="101" name="Ellipse 101"/>
          <p:cNvSpPr/>
          <p:nvPr/>
        </p:nvSpPr>
        <p:spPr>
          <a:xfrm>
            <a:off x="814388" y="37480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02" name="TextBox 102"/>
          <p:cNvSpPr txBox="1"/>
          <p:nvPr/>
        </p:nvSpPr>
        <p:spPr>
          <a:xfrm>
            <a:off x="1059180" y="3686175"/>
            <a:ext cx="33980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Library preparation：建库与加接头</a:t>
            </a:r>
          </a:p>
        </p:txBody>
      </p:sp>
      <p:sp>
        <p:nvSpPr>
          <p:cNvPr id="103" name="Ellipse 103"/>
          <p:cNvSpPr/>
          <p:nvPr/>
        </p:nvSpPr>
        <p:spPr>
          <a:xfrm>
            <a:off x="814388" y="41671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04" name="TextBox 104"/>
          <p:cNvSpPr txBox="1"/>
          <p:nvPr/>
        </p:nvSpPr>
        <p:spPr>
          <a:xfrm>
            <a:off x="1059180" y="4105275"/>
            <a:ext cx="32872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Cluster generation：桥式扩增成簇</a:t>
            </a:r>
          </a:p>
        </p:txBody>
      </p:sp>
      <p:sp>
        <p:nvSpPr>
          <p:cNvPr id="105" name="Ellipse 105"/>
          <p:cNvSpPr/>
          <p:nvPr/>
        </p:nvSpPr>
        <p:spPr>
          <a:xfrm>
            <a:off x="814388" y="45862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06" name="TextBox 106"/>
          <p:cNvSpPr txBox="1"/>
          <p:nvPr/>
        </p:nvSpPr>
        <p:spPr>
          <a:xfrm>
            <a:off x="1059180" y="4524375"/>
            <a:ext cx="25028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Sequencing：边合成边测序</a:t>
            </a:r>
          </a:p>
        </p:txBody>
      </p:sp>
      <p:sp>
        <p:nvSpPr>
          <p:cNvPr id="107" name="Ellipse 107"/>
          <p:cNvSpPr/>
          <p:nvPr/>
        </p:nvSpPr>
        <p:spPr>
          <a:xfrm>
            <a:off x="814388" y="50053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08" name="TextBox 108"/>
          <p:cNvSpPr txBox="1"/>
          <p:nvPr/>
        </p:nvSpPr>
        <p:spPr>
          <a:xfrm>
            <a:off x="1059180" y="4943475"/>
            <a:ext cx="36017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Alignment：图像信号变成可比对的读长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9FB0C4"/>
                </a:solidFill>
                <a:latin typeface="+mn-lt"/>
                <a:ea typeface="+mn-ea"/>
                <a:cs typeface="+mn-cs"/>
              </a:rPr>
              <a:t>14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3824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PLATFORMS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30605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两条产品线：差在通量不差在原理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台式机与生产规模机，用的是同一套化学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3590925"/>
            <a:ext cx="4762500" cy="13144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34123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Illumina 现役测序仪产品线（厂商标称最大值）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台式测序仪：数据量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15621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144 Mb — 500 Gb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4898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生产规模：NovaSeq X 系列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23512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约 100 Gb — 2600 Gb / 次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15701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读长：25–300 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2751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（台式）/ 50–250 nt（生产）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8605" y="4067175"/>
            <a:ext cx="241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读长类型：单端（single-e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78605" y="4314825"/>
            <a:ext cx="25090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nd）与双端（paired-end）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97280" y="51530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原理完全一致，差别在并行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280" y="54006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规模与运行时间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15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32279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SEQUENCING BY SYNTHESIS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580559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SBS：每加一个碱基，拍一张照片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可逆终止子让合成一轮只走一步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3327082"/>
            <a:ext cx="4762500" cy="184213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1984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SBS 的单轮循环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把测序变成一场「逐位读取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」的合成反应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每轮只加入一个带荧光标记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的核苷酸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掺入后成像，识别是哪种碱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基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8605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切掉荧光基团，进入下一轮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7280" y="51530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重复数百轮，就得到整条读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7280" y="540067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16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3109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8415223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四步流程：从一堆 DNA 到可比对读长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建库、成簇、测序、分析，一步接一步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728" y="2495550"/>
            <a:ext cx="3408045" cy="3505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6227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Illumina 测序流程总览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2707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1. Library Preparation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建库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1597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2. Cluster Generation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成簇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19748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3. Sequencing：测序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078605" y="4067175"/>
            <a:ext cx="21430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4. Alignment and data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78605" y="4314825"/>
            <a:ext cx="20143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analysis：比对与分析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7280" y="515302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前两步决定数据质量的上限，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7280" y="540067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后两步决定结论可靠性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17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1515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STEP 1 · LIBRARY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827532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建库：把基因组打碎，再装上「把手」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51033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打断到 200–500 bp（上限约 800 bp），再连接接头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996" y="2495550"/>
            <a:ext cx="4311508" cy="3505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9749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建库流程：打断 + 连接接头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1988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基因组 DNA 先被打断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2751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成小片段（典型 200–500 bp）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每个片段两端连接上已知序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20042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列的接头（adapter）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接头是后续扩增与测序引物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结合的位点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8605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打断方式影响片段的长度分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78605" y="43148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布与偏好性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97280" y="51530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建库质量直接决定后续数据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280" y="54006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18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1515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STEP 1 · LIBRARY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827532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同一套建库流程，分子与流程两种画法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从分子层面理解接头的作用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25165"/>
            <a:ext cx="5067300" cy="2199322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片段与接头连接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785235"/>
            <a:ext cx="5067300" cy="1079182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文库结构示意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19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6928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MULTIPLEXING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82142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多重测序：一个通道测多个样本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4929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靠 index（barcode）区分样本来源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3134678"/>
            <a:ext cx="4762500" cy="222694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4337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index 区分不同样本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每个样本在建库时加上独特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124701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的 index 序列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多个样本混合后在同一次运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行中测序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1123950"/>
          </a:xfrm>
          <a:prstGeom prst="roundRect">
            <a:avLst>
              <a:gd name="adj" fmla="val 8475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11239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24585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测序完成后按 index 拆分回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241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各个样本（demultiplexing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7280" y="456247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743325" y="3943350"/>
            <a:ext cx="2695575" cy="1123950"/>
          </a:xfrm>
          <a:prstGeom prst="roundRect">
            <a:avLst>
              <a:gd name="adj" fmla="val 8475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3743325" y="3943350"/>
            <a:ext cx="47625" cy="11239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078605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好处：显著降低成本，减少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78605" y="43148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批次效应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52768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762000" y="52768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904875" y="54578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97280" y="5400675"/>
            <a:ext cx="2398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注意：index 设计不当会导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7280" y="56483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致样本间串扰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20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19958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STEP 2 · CLUSTER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488289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成簇：为什么必须扩增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3486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单分子的荧光信号太弱，检测不到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712" y="2495550"/>
            <a:ext cx="3649028" cy="3505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桥式扩增形成克隆簇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5470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Flow cell 表面排列着与接头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互补的寡核苷酸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414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DNA 片段与 flow cell 结合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97280" y="4067175"/>
            <a:ext cx="25393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通过桥式扩增（bridge ampl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7280" y="4314825"/>
            <a:ext cx="20749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ification）形成克隆簇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078605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每个簇包含成千上万条相同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78605" y="431482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的片段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7280" y="51530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成簇是必要的：单分子的荧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7280" y="540067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光信号无法被检测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21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6348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STEP 3 · SEQUENCING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439826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测序：一轮一个碱基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荧光信号的波长与强度告诉我们是什么碱基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495550"/>
            <a:ext cx="3741420" cy="3505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单轮测序的信号读取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加入荧光标记的核苷酸和测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序试剂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每一次只掺入一个核苷酸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97280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检测特定波长和强度，捕获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7280" y="43148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每个簇上的荧光信号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078605" y="4067175"/>
            <a:ext cx="25115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根据信号判断该位置是 A /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78605" y="4314825"/>
            <a:ext cx="8580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T / C / G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7280" y="51530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一轮一轮循环，读长逐步延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7280" y="540067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22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8450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STEP 4 · BASE CALLING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9241155" y="723900"/>
            <a:ext cx="2188845" cy="285750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96984" y="794385"/>
            <a:ext cx="18226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第 2 行正是这一步的产物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3712" y="1211580"/>
            <a:ext cx="639257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碱基识别：从图像到 FASTQ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618" y="184118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软件把荧光图像翻译成碱基与质量值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3013710"/>
            <a:ext cx="4762500" cy="246888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509004" y="6233160"/>
            <a:ext cx="19440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从 bcl 到 FASTQ 再到比对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97280" y="29813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软件捕获图像信号，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7280" y="32289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输出 bcl 格式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078605" y="2981325"/>
            <a:ext cx="15701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bcl 转化为通用的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78605" y="3228975"/>
            <a:ext cx="10349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fastq 格式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97280" y="4067175"/>
            <a:ext cx="26289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FASTQ 中每个碱基都带有对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7280" y="43148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应的质量值</a:t>
            </a:r>
          </a:p>
        </p:txBody>
      </p:sp>
      <p:sp>
        <p:nvSpPr>
          <p:cNvPr id="25" name="Rectangle 25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078605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比对到参考基因组后，才能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078605" y="43148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进入下游分析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97280" y="51530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这一步的产物就是生物信息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7280" y="54006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学的起点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23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4058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PAIRED-END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插入片段长度：没有绝对好坏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要覆盖度还是要跨度，取决于你的目标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45218"/>
            <a:ext cx="5067300" cy="135826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插入片段长度与覆盖度的权衡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761422"/>
            <a:ext cx="5067300" cy="1124902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多映射问题的来源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24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4058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PAIRED-END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双端能做什么：读长跨得更远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645833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两个读长从两端读，中间那段没读到，但距离与方向本身就是证据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86050"/>
            <a:ext cx="5200650" cy="1438275"/>
          </a:xfrm>
          <a:prstGeom prst="roundRect">
            <a:avLst>
              <a:gd name="adj" fmla="val 6623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2686050"/>
            <a:ext cx="47625" cy="143827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04875" y="29051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97280" y="2847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定位更准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2980" y="3095625"/>
            <a:ext cx="2842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两段一起比对，重复区也能定到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980" y="33432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唯一位置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29350" y="2686050"/>
            <a:ext cx="5200650" cy="1438275"/>
          </a:xfrm>
          <a:prstGeom prst="roundRect">
            <a:avLst>
              <a:gd name="adj" fmla="val 6623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29350" y="2686050"/>
            <a:ext cx="47625" cy="1438275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6372225" y="29051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564630" y="28479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跨越重复与低复杂度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50330" y="3095625"/>
            <a:ext cx="2842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单端会落在多个位置，双端把可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0330" y="334327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能范围收窄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391025"/>
            <a:ext cx="5200650" cy="1438275"/>
          </a:xfrm>
          <a:prstGeom prst="roundRect">
            <a:avLst>
              <a:gd name="adj" fmla="val 6623"/>
            </a:avLst>
          </a:prstGeom>
          <a:solidFill>
            <a:schemeClr val="lt1"/>
          </a:solidFill>
          <a:ln w="14288">
            <a:solidFill>
              <a:srgbClr val="A06CD5">
                <a:alpha val="25000"/>
              </a:srgb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4391025"/>
            <a:ext cx="47625" cy="1438275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610100"/>
            <a:ext cx="95250" cy="952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55295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检测结构变异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2980" y="4800600"/>
            <a:ext cx="2842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两端方向异常或间距突变，提示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2980" y="5048250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插入、缺失、倒位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29350" y="4391025"/>
            <a:ext cx="5200650" cy="1438275"/>
          </a:xfrm>
          <a:prstGeom prst="roundRect">
            <a:avLst>
              <a:gd name="adj" fmla="val 6623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29350" y="4391025"/>
            <a:ext cx="47625" cy="14382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6372225" y="4610100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564630" y="455295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提高组装质量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50330" y="4800600"/>
            <a:ext cx="27715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间距信息把一段段 contig 连成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50330" y="5048250"/>
            <a:ext cx="15196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更长的 scaffold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82980" y="6067425"/>
            <a:ext cx="48615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双端不是读得更长，而是多给了一个距离与方向的约束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25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0278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A REAL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多重映射：短读长的先天缺陷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90347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同一个读长，可能同时匹配到基因组上的多个位置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218" y="3041332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长重复元件会让短读长在基因组上的映射位置不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2218" y="3327082"/>
            <a:ext cx="4610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唯一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38100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84504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后果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2218" y="4031932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表达量被错误分配，结构变异难以判断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45148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84504" y="45186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方案一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2218" y="4736782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测更长的读长，让序列本身具有唯一性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61379" y="28232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方案二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59093" y="30413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采用双端测序，用两端的固定距离约束位置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38875" y="35242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461379" y="35280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方案三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59093" y="3746182"/>
            <a:ext cx="485562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两条合法路线：按 MAPQ 过滤（会丢 reads），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59093" y="4031932"/>
            <a:ext cx="445251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或用 EM 概率分配（保留信息，依赖模型）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82980" y="6067425"/>
            <a:ext cx="46596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这就是为什么长读长平台在重复区域研究中不可替代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26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9030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DEPTH &amp; DESIGN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36752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测序深度：不是越深越好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深度增加观测数，重复增加结论的稳定性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619750" cy="3276600"/>
          </a:xfrm>
          <a:prstGeom prst="roundRect">
            <a:avLst>
              <a:gd name="adj" fmla="val 3488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59180" y="28860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可用证据</a:t>
            </a:r>
          </a:p>
        </p:txBody>
      </p:sp>
      <p:sp>
        <p:nvSpPr>
          <p:cNvPr id="8" name="Line 8"/>
          <p:cNvSpPr/>
          <p:nvPr/>
        </p:nvSpPr>
        <p:spPr>
          <a:xfrm>
            <a:off x="1257300" y="5353050"/>
            <a:ext cx="4648200" cy="9525"/>
          </a:xfrm>
          <a:custGeom>
            <a:avLst/>
            <a:gdLst/>
            <a:ahLst/>
            <a:cxnLst/>
            <a:rect l="l" t="t" r="r" b="b"/>
            <a:pathLst>
              <a:path w="4648200" h="9525">
                <a:moveTo>
                  <a:pt x="0" y="0"/>
                </a:moveTo>
                <a:lnTo>
                  <a:pt x="4648200" y="0"/>
                </a:lnTo>
              </a:path>
            </a:pathLst>
          </a:custGeom>
          <a:noFill/>
          <a:ln w="19050">
            <a:solidFill>
              <a:srgbClr val="9AA5B1"/>
            </a:solidFill>
          </a:ln>
        </p:spPr>
      </p:sp>
      <p:sp>
        <p:nvSpPr>
          <p:cNvPr id="9" name="Line 9"/>
          <p:cNvSpPr/>
          <p:nvPr/>
        </p:nvSpPr>
        <p:spPr>
          <a:xfrm>
            <a:off x="1257300" y="3429000"/>
            <a:ext cx="9525" cy="1924050"/>
          </a:xfrm>
          <a:custGeom>
            <a:avLst/>
            <a:gdLst/>
            <a:ahLst/>
            <a:cxnLst/>
            <a:rect l="l" t="t" r="r" b="b"/>
            <a:pathLst>
              <a:path w="9525" h="1924050">
                <a:moveTo>
                  <a:pt x="0" y="19240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AA5B1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1381125" y="3657600"/>
            <a:ext cx="4524375" cy="1438275"/>
          </a:xfrm>
          <a:custGeom>
            <a:avLst/>
            <a:gdLst/>
            <a:ahLst/>
            <a:cxnLst/>
            <a:rect l="l" t="t" r="r" b="b"/>
            <a:pathLst>
              <a:path w="4524375" h="1438275">
                <a:moveTo>
                  <a:pt x="0" y="1438275"/>
                </a:moveTo>
                <a:cubicBezTo>
                  <a:pt x="666750" y="866775"/>
                  <a:pt x="1095375" y="485775"/>
                  <a:pt x="1666875" y="266700"/>
                </a:cubicBezTo>
                <a:cubicBezTo>
                  <a:pt x="2333625" y="19050"/>
                  <a:pt x="2905125" y="38100"/>
                  <a:pt x="3524250" y="19050"/>
                </a:cubicBezTo>
                <a:cubicBezTo>
                  <a:pt x="3952875" y="0"/>
                  <a:pt x="4276725" y="0"/>
                  <a:pt x="4524375" y="0"/>
                </a:cubicBezTo>
              </a:path>
            </a:pathLst>
          </a:custGeom>
          <a:noFill/>
          <a:ln w="57150">
            <a:solidFill>
              <a:schemeClr val="accent6"/>
            </a:solidFill>
          </a:ln>
        </p:spPr>
      </p:sp>
      <p:sp>
        <p:nvSpPr>
          <p:cNvPr id="11" name="Line 11"/>
          <p:cNvSpPr/>
          <p:nvPr/>
        </p:nvSpPr>
        <p:spPr>
          <a:xfrm>
            <a:off x="3048000" y="3924300"/>
            <a:ext cx="9525" cy="1428750"/>
          </a:xfrm>
          <a:custGeom>
            <a:avLst/>
            <a:gdLst/>
            <a:ahLst/>
            <a:cxnLst/>
            <a:rect l="l" t="t" r="r" b="b"/>
            <a:pathLst>
              <a:path w="9525" h="1428750">
                <a:moveTo>
                  <a:pt x="0" y="0"/>
                </a:moveTo>
                <a:lnTo>
                  <a:pt x="0" y="1428750"/>
                </a:lnTo>
              </a:path>
            </a:pathLst>
          </a:custGeom>
          <a:noFill/>
          <a:ln w="19050">
            <a:solidFill>
              <a:srgbClr val="CFD8E3"/>
            </a:solidFill>
            <a:custDash>
              <a:ds d="300000" sp="300000"/>
            </a:custDash>
          </a:ln>
        </p:spPr>
      </p:sp>
      <p:sp>
        <p:nvSpPr>
          <p:cNvPr id="12" name="Line 12"/>
          <p:cNvSpPr/>
          <p:nvPr/>
        </p:nvSpPr>
        <p:spPr>
          <a:xfrm>
            <a:off x="4905375" y="3676650"/>
            <a:ext cx="9525" cy="1676400"/>
          </a:xfrm>
          <a:custGeom>
            <a:avLst/>
            <a:gdLst/>
            <a:ahLst/>
            <a:cxnLst/>
            <a:rect l="l" t="t" r="r" b="b"/>
            <a:pathLst>
              <a:path w="9525" h="1676400">
                <a:moveTo>
                  <a:pt x="0" y="0"/>
                </a:moveTo>
                <a:lnTo>
                  <a:pt x="0" y="1676400"/>
                </a:lnTo>
              </a:path>
            </a:pathLst>
          </a:custGeom>
          <a:noFill/>
          <a:ln w="19050">
            <a:solidFill>
              <a:srgbClr val="CFD8E3"/>
            </a:solidFill>
            <a:custDash>
              <a:ds d="300000" sp="300000"/>
            </a:custDash>
          </a:ln>
        </p:spPr>
      </p:sp>
      <p:sp>
        <p:nvSpPr>
          <p:cNvPr id="13" name="TextBox 13"/>
          <p:cNvSpPr txBox="1"/>
          <p:nvPr/>
        </p:nvSpPr>
        <p:spPr>
          <a:xfrm>
            <a:off x="2889504" y="54521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够用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80204" y="54521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边际收益变小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7854" y="56235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reads / sample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13604" y="32804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饱和不是浪费，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13604" y="34899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但预算要比较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724650" y="2647950"/>
            <a:ext cx="4705350" cy="3276600"/>
          </a:xfrm>
          <a:prstGeom prst="roundRect">
            <a:avLst>
              <a:gd name="adj" fmla="val 3488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991350" y="30099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213854" y="3013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深度回答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12330" y="324802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一个样本里看到了多少次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991350" y="37528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213854" y="37566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重复回答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12330" y="399097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换一个样本还能不能复现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991350" y="44958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213854" y="44996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覆盖回答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12330" y="473392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证据是否落在目标区域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13854" y="5337810"/>
            <a:ext cx="19749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高总量 ≠ 每个区域都被看见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6115050"/>
            <a:ext cx="10668000" cy="419100"/>
          </a:xfrm>
          <a:prstGeom prst="roundRect">
            <a:avLst>
              <a:gd name="adj" fmla="val 18182"/>
            </a:avLst>
          </a:prstGeom>
          <a:solidFill>
            <a:srgbClr val="FDF0E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82980" y="6229350"/>
            <a:ext cx="47717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先做 coverage / power 估算，再把预算分给样本数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84387" y="6518910"/>
            <a:ext cx="23277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参考：ENCODE Best Practices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82732" y="66141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27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0858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85216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小结：四步流程，一条主线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256007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建库 → 成簇 → 测序 → 分析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3429000"/>
            <a:ext cx="2562225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3429000"/>
            <a:ext cx="2562225" cy="571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866775" y="3667125"/>
            <a:ext cx="323850" cy="3238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72467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7587" y="3699986"/>
            <a:ext cx="48061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建库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7354" y="408051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打断 + 接接头 + 加 index</a:t>
            </a:r>
          </a:p>
        </p:txBody>
      </p:sp>
      <p:sp>
        <p:nvSpPr>
          <p:cNvPr id="12" name="Freeform 12"/>
          <p:cNvSpPr/>
          <p:nvPr/>
        </p:nvSpPr>
        <p:spPr>
          <a:xfrm>
            <a:off x="3343275" y="4152900"/>
            <a:ext cx="95250" cy="171450"/>
          </a:xfrm>
          <a:custGeom>
            <a:avLst/>
            <a:gdLst/>
            <a:ahLst/>
            <a:cxnLst/>
            <a:rect l="l" t="t" r="r" b="b"/>
            <a:pathLst>
              <a:path w="95250" h="171450">
                <a:moveTo>
                  <a:pt x="0" y="0"/>
                </a:moveTo>
                <a:lnTo>
                  <a:pt x="952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CFD8E3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457575" y="3429000"/>
            <a:ext cx="2562225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457575" y="3429000"/>
            <a:ext cx="2562225" cy="571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562350" y="3667125"/>
            <a:ext cx="323850" cy="3238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668042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63162" y="3699986"/>
            <a:ext cx="48061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成簇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22929" y="40805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桥式扩增，把信号放大到可检测</a:t>
            </a:r>
          </a:p>
        </p:txBody>
      </p:sp>
      <p:sp>
        <p:nvSpPr>
          <p:cNvPr id="19" name="Freeform 19"/>
          <p:cNvSpPr/>
          <p:nvPr/>
        </p:nvSpPr>
        <p:spPr>
          <a:xfrm>
            <a:off x="6038850" y="4152900"/>
            <a:ext cx="95250" cy="171450"/>
          </a:xfrm>
          <a:custGeom>
            <a:avLst/>
            <a:gdLst/>
            <a:ahLst/>
            <a:cxnLst/>
            <a:rect l="l" t="t" r="r" b="b"/>
            <a:pathLst>
              <a:path w="95250" h="171450">
                <a:moveTo>
                  <a:pt x="0" y="0"/>
                </a:moveTo>
                <a:lnTo>
                  <a:pt x="952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CFD8E3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153150" y="3429000"/>
            <a:ext cx="2562225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153150" y="3429000"/>
            <a:ext cx="2562225" cy="571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6257925" y="3667125"/>
            <a:ext cx="323850" cy="3238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363617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8737" y="3699986"/>
            <a:ext cx="48061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测序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18504" y="40805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逐位合成，逐轮成像</a:t>
            </a:r>
          </a:p>
        </p:txBody>
      </p:sp>
      <p:sp>
        <p:nvSpPr>
          <p:cNvPr id="26" name="Freeform 26"/>
          <p:cNvSpPr/>
          <p:nvPr/>
        </p:nvSpPr>
        <p:spPr>
          <a:xfrm>
            <a:off x="8734425" y="4152900"/>
            <a:ext cx="95250" cy="171450"/>
          </a:xfrm>
          <a:custGeom>
            <a:avLst/>
            <a:gdLst/>
            <a:ahLst/>
            <a:cxnLst/>
            <a:rect l="l" t="t" r="r" b="b"/>
            <a:pathLst>
              <a:path w="95250" h="171450">
                <a:moveTo>
                  <a:pt x="0" y="0"/>
                </a:moveTo>
                <a:lnTo>
                  <a:pt x="952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CFD8E3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8848725" y="3429000"/>
            <a:ext cx="2562225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848725" y="3429000"/>
            <a:ext cx="2562225" cy="571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8953500" y="3667125"/>
            <a:ext cx="323850" cy="3238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59192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54312" y="3699986"/>
            <a:ext cx="48061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14079" y="4080510"/>
            <a:ext cx="14589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bcl → FASTQ → 比对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62000" y="5143500"/>
            <a:ext cx="10668000" cy="609600"/>
          </a:xfrm>
          <a:prstGeom prst="roundRect">
            <a:avLst>
              <a:gd name="adj" fmla="val 15625"/>
            </a:avLst>
          </a:prstGeom>
          <a:solidFill>
            <a:schemeClr val="lt1"/>
          </a:solidFill>
          <a:ln w="14288">
            <a:solidFill>
              <a:schemeClr val="accent5">
                <a:alpha val="35000"/>
              </a:schemeClr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62000" y="5143500"/>
            <a:ext cx="57150" cy="6096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82980" y="5362575"/>
            <a:ext cx="72862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下一部分 · 测序能做什么</a:t>
            </a:r>
            <a:r>
              <a:rPr lang="zh-Hans-CN" sz="15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 xml:space="preserve"> —— 读长已经躺在那里了——它能回答哪一类生物学问题？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82980" y="6067425"/>
            <a:ext cx="52654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任何测序数据的质量问题，都可以回溯到这四步中的某一步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91058" y="6518910"/>
            <a:ext cx="1809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第二部分 · Illumina 原理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28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533400" y="23431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257300" y="23431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981200" y="23431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2705100" y="23431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3429000" y="23431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4152900" y="23431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4876800" y="23431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5600700" y="23431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6324600" y="23431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7048500" y="23431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7772400" y="23431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496300" y="23431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220200" y="23431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9944100" y="23431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0668000" y="23431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1391900" y="23431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533400" y="27813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257300" y="27813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1981200" y="278130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2705100" y="27813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3429000" y="27813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4152900" y="27813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4876800" y="27813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5600700" y="278130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6324600" y="27813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7048500" y="27813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7772400" y="27813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8496300" y="27813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220200" y="278130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9944100" y="27813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10668000" y="27813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11391900" y="27813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533400" y="32194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1257300" y="32194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1981200" y="32194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2705100" y="32194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3429000" y="32194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4152900" y="32194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4876800" y="32194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5600700" y="32194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6324600" y="32194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7048500" y="32194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7772400" y="32194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8496300" y="32194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9220200" y="32194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9944100" y="32194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10668000" y="32194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11391900" y="32194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533400" y="36576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1257300" y="36576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1981200" y="36576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2705100" y="36576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3429000" y="365760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4152900" y="36576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4876800" y="36576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5600700" y="36576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8" name="Ellipse 58"/>
          <p:cNvSpPr/>
          <p:nvPr/>
        </p:nvSpPr>
        <p:spPr>
          <a:xfrm>
            <a:off x="6324600" y="36576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7048500" y="365760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60" name="Ellipse 60"/>
          <p:cNvSpPr/>
          <p:nvPr/>
        </p:nvSpPr>
        <p:spPr>
          <a:xfrm>
            <a:off x="7772400" y="36576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61" name="Ellipse 61"/>
          <p:cNvSpPr/>
          <p:nvPr/>
        </p:nvSpPr>
        <p:spPr>
          <a:xfrm>
            <a:off x="8496300" y="36576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62" name="Ellipse 62"/>
          <p:cNvSpPr/>
          <p:nvPr/>
        </p:nvSpPr>
        <p:spPr>
          <a:xfrm>
            <a:off x="9220200" y="36576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3" name="Ellipse 63"/>
          <p:cNvSpPr/>
          <p:nvPr/>
        </p:nvSpPr>
        <p:spPr>
          <a:xfrm>
            <a:off x="9944100" y="36576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10668000" y="365760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65" name="Ellipse 65"/>
          <p:cNvSpPr/>
          <p:nvPr/>
        </p:nvSpPr>
        <p:spPr>
          <a:xfrm>
            <a:off x="11391900" y="36576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533400" y="40957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67" name="Ellipse 67"/>
          <p:cNvSpPr/>
          <p:nvPr/>
        </p:nvSpPr>
        <p:spPr>
          <a:xfrm>
            <a:off x="1257300" y="40957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68" name="Ellipse 68"/>
          <p:cNvSpPr/>
          <p:nvPr/>
        </p:nvSpPr>
        <p:spPr>
          <a:xfrm>
            <a:off x="1981200" y="40957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69" name="Ellipse 69"/>
          <p:cNvSpPr/>
          <p:nvPr/>
        </p:nvSpPr>
        <p:spPr>
          <a:xfrm>
            <a:off x="2705100" y="40957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3429000" y="40957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4152900" y="40957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72" name="Ellipse 72"/>
          <p:cNvSpPr/>
          <p:nvPr/>
        </p:nvSpPr>
        <p:spPr>
          <a:xfrm>
            <a:off x="4876800" y="40957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73" name="Ellipse 73"/>
          <p:cNvSpPr/>
          <p:nvPr/>
        </p:nvSpPr>
        <p:spPr>
          <a:xfrm>
            <a:off x="5600700" y="40957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6324600" y="40957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5" name="Ellipse 75"/>
          <p:cNvSpPr/>
          <p:nvPr/>
        </p:nvSpPr>
        <p:spPr>
          <a:xfrm>
            <a:off x="7048500" y="40957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76" name="Ellipse 76"/>
          <p:cNvSpPr/>
          <p:nvPr/>
        </p:nvSpPr>
        <p:spPr>
          <a:xfrm>
            <a:off x="7772400" y="40957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77" name="Ellipse 77"/>
          <p:cNvSpPr/>
          <p:nvPr/>
        </p:nvSpPr>
        <p:spPr>
          <a:xfrm>
            <a:off x="8496300" y="40957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78" name="Ellipse 78"/>
          <p:cNvSpPr/>
          <p:nvPr/>
        </p:nvSpPr>
        <p:spPr>
          <a:xfrm>
            <a:off x="9220200" y="40957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79" name="Ellipse 79"/>
          <p:cNvSpPr/>
          <p:nvPr/>
        </p:nvSpPr>
        <p:spPr>
          <a:xfrm>
            <a:off x="9944100" y="40957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0" name="Ellipse 80"/>
          <p:cNvSpPr/>
          <p:nvPr/>
        </p:nvSpPr>
        <p:spPr>
          <a:xfrm>
            <a:off x="10668000" y="40957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81" name="Ellipse 81"/>
          <p:cNvSpPr/>
          <p:nvPr/>
        </p:nvSpPr>
        <p:spPr>
          <a:xfrm>
            <a:off x="11391900" y="40957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82" name="Ellipse 82"/>
          <p:cNvSpPr/>
          <p:nvPr/>
        </p:nvSpPr>
        <p:spPr>
          <a:xfrm>
            <a:off x="533400" y="45339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83" name="Ellipse 83"/>
          <p:cNvSpPr/>
          <p:nvPr/>
        </p:nvSpPr>
        <p:spPr>
          <a:xfrm>
            <a:off x="1257300" y="453390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84" name="Ellipse 84"/>
          <p:cNvSpPr/>
          <p:nvPr/>
        </p:nvSpPr>
        <p:spPr>
          <a:xfrm>
            <a:off x="1981200" y="45339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85" name="Ellipse 85"/>
          <p:cNvSpPr/>
          <p:nvPr/>
        </p:nvSpPr>
        <p:spPr>
          <a:xfrm>
            <a:off x="2705100" y="45339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86" name="Ellipse 86"/>
          <p:cNvSpPr/>
          <p:nvPr/>
        </p:nvSpPr>
        <p:spPr>
          <a:xfrm>
            <a:off x="3429000" y="45339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7" name="Ellipse 87"/>
          <p:cNvSpPr/>
          <p:nvPr/>
        </p:nvSpPr>
        <p:spPr>
          <a:xfrm>
            <a:off x="4152900" y="45339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88" name="Ellipse 88"/>
          <p:cNvSpPr/>
          <p:nvPr/>
        </p:nvSpPr>
        <p:spPr>
          <a:xfrm>
            <a:off x="4876800" y="453390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89" name="Ellipse 89"/>
          <p:cNvSpPr/>
          <p:nvPr/>
        </p:nvSpPr>
        <p:spPr>
          <a:xfrm>
            <a:off x="5600700" y="45339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90" name="Ellipse 90"/>
          <p:cNvSpPr/>
          <p:nvPr/>
        </p:nvSpPr>
        <p:spPr>
          <a:xfrm>
            <a:off x="6324600" y="45339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91" name="Ellipse 91"/>
          <p:cNvSpPr/>
          <p:nvPr/>
        </p:nvSpPr>
        <p:spPr>
          <a:xfrm>
            <a:off x="7048500" y="45339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2" name="Ellipse 92"/>
          <p:cNvSpPr/>
          <p:nvPr/>
        </p:nvSpPr>
        <p:spPr>
          <a:xfrm>
            <a:off x="7772400" y="45339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93" name="Ellipse 93"/>
          <p:cNvSpPr/>
          <p:nvPr/>
        </p:nvSpPr>
        <p:spPr>
          <a:xfrm>
            <a:off x="8496300" y="453390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94" name="Ellipse 94"/>
          <p:cNvSpPr/>
          <p:nvPr/>
        </p:nvSpPr>
        <p:spPr>
          <a:xfrm>
            <a:off x="9220200" y="45339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95" name="Ellipse 95"/>
          <p:cNvSpPr/>
          <p:nvPr/>
        </p:nvSpPr>
        <p:spPr>
          <a:xfrm>
            <a:off x="9944100" y="45339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96" name="Ellipse 96"/>
          <p:cNvSpPr/>
          <p:nvPr/>
        </p:nvSpPr>
        <p:spPr>
          <a:xfrm>
            <a:off x="10668000" y="45339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7" name="Ellipse 97"/>
          <p:cNvSpPr/>
          <p:nvPr/>
        </p:nvSpPr>
        <p:spPr>
          <a:xfrm>
            <a:off x="11391900" y="45339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98" name="Ellipse 98"/>
          <p:cNvSpPr/>
          <p:nvPr/>
        </p:nvSpPr>
        <p:spPr>
          <a:xfrm>
            <a:off x="533400" y="49720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9" name="Ellipse 99"/>
          <p:cNvSpPr/>
          <p:nvPr/>
        </p:nvSpPr>
        <p:spPr>
          <a:xfrm>
            <a:off x="1257300" y="49720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100" name="Ellipse 100"/>
          <p:cNvSpPr/>
          <p:nvPr/>
        </p:nvSpPr>
        <p:spPr>
          <a:xfrm>
            <a:off x="1981200" y="49720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101" name="Ellipse 101"/>
          <p:cNvSpPr/>
          <p:nvPr/>
        </p:nvSpPr>
        <p:spPr>
          <a:xfrm>
            <a:off x="2705100" y="49720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102" name="Ellipse 102"/>
          <p:cNvSpPr/>
          <p:nvPr/>
        </p:nvSpPr>
        <p:spPr>
          <a:xfrm>
            <a:off x="3429000" y="49720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103" name="Ellipse 103"/>
          <p:cNvSpPr/>
          <p:nvPr/>
        </p:nvSpPr>
        <p:spPr>
          <a:xfrm>
            <a:off x="4152900" y="49720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04" name="Ellipse 104"/>
          <p:cNvSpPr/>
          <p:nvPr/>
        </p:nvSpPr>
        <p:spPr>
          <a:xfrm>
            <a:off x="4876800" y="49720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105" name="Ellipse 105"/>
          <p:cNvSpPr/>
          <p:nvPr/>
        </p:nvSpPr>
        <p:spPr>
          <a:xfrm>
            <a:off x="5600700" y="49720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106" name="Ellipse 106"/>
          <p:cNvSpPr/>
          <p:nvPr/>
        </p:nvSpPr>
        <p:spPr>
          <a:xfrm>
            <a:off x="6324600" y="49720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107" name="Ellipse 107"/>
          <p:cNvSpPr/>
          <p:nvPr/>
        </p:nvSpPr>
        <p:spPr>
          <a:xfrm>
            <a:off x="7048500" y="49720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108" name="Ellipse 108"/>
          <p:cNvSpPr/>
          <p:nvPr/>
        </p:nvSpPr>
        <p:spPr>
          <a:xfrm>
            <a:off x="7772400" y="49720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09" name="Ellipse 109"/>
          <p:cNvSpPr/>
          <p:nvPr/>
        </p:nvSpPr>
        <p:spPr>
          <a:xfrm>
            <a:off x="8496300" y="49720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110" name="Ellipse 110"/>
          <p:cNvSpPr/>
          <p:nvPr/>
        </p:nvSpPr>
        <p:spPr>
          <a:xfrm>
            <a:off x="9220200" y="49720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111" name="Ellipse 111"/>
          <p:cNvSpPr/>
          <p:nvPr/>
        </p:nvSpPr>
        <p:spPr>
          <a:xfrm>
            <a:off x="9944100" y="49720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112" name="Ellipse 112"/>
          <p:cNvSpPr/>
          <p:nvPr/>
        </p:nvSpPr>
        <p:spPr>
          <a:xfrm>
            <a:off x="10668000" y="49720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113" name="Ellipse 113"/>
          <p:cNvSpPr/>
          <p:nvPr/>
        </p:nvSpPr>
        <p:spPr>
          <a:xfrm>
            <a:off x="11391900" y="49720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14" name="Ellipse 114"/>
          <p:cNvSpPr/>
          <p:nvPr/>
        </p:nvSpPr>
        <p:spPr>
          <a:xfrm>
            <a:off x="533400" y="54102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115" name="Ellipse 115"/>
          <p:cNvSpPr/>
          <p:nvPr/>
        </p:nvSpPr>
        <p:spPr>
          <a:xfrm>
            <a:off x="1257300" y="54102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16" name="Ellipse 116"/>
          <p:cNvSpPr/>
          <p:nvPr/>
        </p:nvSpPr>
        <p:spPr>
          <a:xfrm>
            <a:off x="1981200" y="54102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117" name="Ellipse 117"/>
          <p:cNvSpPr/>
          <p:nvPr/>
        </p:nvSpPr>
        <p:spPr>
          <a:xfrm>
            <a:off x="2705100" y="541020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118" name="Ellipse 118"/>
          <p:cNvSpPr/>
          <p:nvPr/>
        </p:nvSpPr>
        <p:spPr>
          <a:xfrm>
            <a:off x="3429000" y="54102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119" name="Ellipse 119"/>
          <p:cNvSpPr/>
          <p:nvPr/>
        </p:nvSpPr>
        <p:spPr>
          <a:xfrm>
            <a:off x="4152900" y="54102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120" name="Ellipse 120"/>
          <p:cNvSpPr/>
          <p:nvPr/>
        </p:nvSpPr>
        <p:spPr>
          <a:xfrm>
            <a:off x="4876800" y="54102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21" name="Ellipse 121"/>
          <p:cNvSpPr/>
          <p:nvPr/>
        </p:nvSpPr>
        <p:spPr>
          <a:xfrm>
            <a:off x="5600700" y="54102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122" name="Ellipse 122"/>
          <p:cNvSpPr/>
          <p:nvPr/>
        </p:nvSpPr>
        <p:spPr>
          <a:xfrm>
            <a:off x="6324600" y="541020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123" name="Ellipse 123"/>
          <p:cNvSpPr/>
          <p:nvPr/>
        </p:nvSpPr>
        <p:spPr>
          <a:xfrm>
            <a:off x="7048500" y="54102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124" name="Ellipse 124"/>
          <p:cNvSpPr/>
          <p:nvPr/>
        </p:nvSpPr>
        <p:spPr>
          <a:xfrm>
            <a:off x="7772400" y="54102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125" name="Ellipse 125"/>
          <p:cNvSpPr/>
          <p:nvPr/>
        </p:nvSpPr>
        <p:spPr>
          <a:xfrm>
            <a:off x="8496300" y="541020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26" name="Ellipse 126"/>
          <p:cNvSpPr/>
          <p:nvPr/>
        </p:nvSpPr>
        <p:spPr>
          <a:xfrm>
            <a:off x="9220200" y="541020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127" name="Ellipse 127"/>
          <p:cNvSpPr/>
          <p:nvPr/>
        </p:nvSpPr>
        <p:spPr>
          <a:xfrm>
            <a:off x="9944100" y="541020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128" name="Ellipse 128"/>
          <p:cNvSpPr/>
          <p:nvPr/>
        </p:nvSpPr>
        <p:spPr>
          <a:xfrm>
            <a:off x="10668000" y="541020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129" name="Ellipse 129"/>
          <p:cNvSpPr/>
          <p:nvPr/>
        </p:nvSpPr>
        <p:spPr>
          <a:xfrm>
            <a:off x="11391900" y="541020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130" name="Ellipse 130"/>
          <p:cNvSpPr/>
          <p:nvPr/>
        </p:nvSpPr>
        <p:spPr>
          <a:xfrm>
            <a:off x="533400" y="58483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131" name="Ellipse 131"/>
          <p:cNvSpPr/>
          <p:nvPr/>
        </p:nvSpPr>
        <p:spPr>
          <a:xfrm>
            <a:off x="1257300" y="58483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132" name="Ellipse 132"/>
          <p:cNvSpPr/>
          <p:nvPr/>
        </p:nvSpPr>
        <p:spPr>
          <a:xfrm>
            <a:off x="1981200" y="58483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33" name="Ellipse 133"/>
          <p:cNvSpPr/>
          <p:nvPr/>
        </p:nvSpPr>
        <p:spPr>
          <a:xfrm>
            <a:off x="2705100" y="58483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134" name="Ellipse 134"/>
          <p:cNvSpPr/>
          <p:nvPr/>
        </p:nvSpPr>
        <p:spPr>
          <a:xfrm>
            <a:off x="3429000" y="58483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135" name="Ellipse 135"/>
          <p:cNvSpPr/>
          <p:nvPr/>
        </p:nvSpPr>
        <p:spPr>
          <a:xfrm>
            <a:off x="4152900" y="58483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136" name="Ellipse 136"/>
          <p:cNvSpPr/>
          <p:nvPr/>
        </p:nvSpPr>
        <p:spPr>
          <a:xfrm>
            <a:off x="4876800" y="58483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137" name="Ellipse 137"/>
          <p:cNvSpPr/>
          <p:nvPr/>
        </p:nvSpPr>
        <p:spPr>
          <a:xfrm>
            <a:off x="5600700" y="58483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38" name="Ellipse 138"/>
          <p:cNvSpPr/>
          <p:nvPr/>
        </p:nvSpPr>
        <p:spPr>
          <a:xfrm>
            <a:off x="6324600" y="58483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139" name="Ellipse 139"/>
          <p:cNvSpPr/>
          <p:nvPr/>
        </p:nvSpPr>
        <p:spPr>
          <a:xfrm>
            <a:off x="7048500" y="58483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140" name="Ellipse 140"/>
          <p:cNvSpPr/>
          <p:nvPr/>
        </p:nvSpPr>
        <p:spPr>
          <a:xfrm>
            <a:off x="7772400" y="58483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141" name="Ellipse 141"/>
          <p:cNvSpPr/>
          <p:nvPr/>
        </p:nvSpPr>
        <p:spPr>
          <a:xfrm>
            <a:off x="8496300" y="5848350"/>
            <a:ext cx="76200" cy="76200"/>
          </a:xfrm>
          <a:prstGeom prst="ellipse">
            <a:avLst/>
          </a:prstGeom>
          <a:solidFill>
            <a:schemeClr val="lt1">
              <a:alpha val="26000"/>
            </a:schemeClr>
          </a:solidFill>
          <a:ln>
            <a:noFill/>
          </a:ln>
        </p:spPr>
      </p:sp>
      <p:sp>
        <p:nvSpPr>
          <p:cNvPr id="142" name="Ellipse 142"/>
          <p:cNvSpPr/>
          <p:nvPr/>
        </p:nvSpPr>
        <p:spPr>
          <a:xfrm>
            <a:off x="9220200" y="5848350"/>
            <a:ext cx="76200" cy="76200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43" name="Ellipse 143"/>
          <p:cNvSpPr/>
          <p:nvPr/>
        </p:nvSpPr>
        <p:spPr>
          <a:xfrm>
            <a:off x="9944100" y="5848350"/>
            <a:ext cx="76200" cy="76200"/>
          </a:xfrm>
          <a:prstGeom prst="ellipse">
            <a:avLst/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144" name="Ellipse 144"/>
          <p:cNvSpPr/>
          <p:nvPr/>
        </p:nvSpPr>
        <p:spPr>
          <a:xfrm>
            <a:off x="10668000" y="5848350"/>
            <a:ext cx="76200" cy="76200"/>
          </a:xfrm>
          <a:prstGeom prst="ellipse">
            <a:avLst/>
          </a:prstGeom>
          <a:solidFill>
            <a:schemeClr val="lt1">
              <a:alpha val="22000"/>
            </a:schemeClr>
          </a:solidFill>
          <a:ln>
            <a:noFill/>
          </a:ln>
        </p:spPr>
      </p:sp>
      <p:sp>
        <p:nvSpPr>
          <p:cNvPr id="145" name="Ellipse 145"/>
          <p:cNvSpPr/>
          <p:nvPr/>
        </p:nvSpPr>
        <p:spPr>
          <a:xfrm>
            <a:off x="11391900" y="5848350"/>
            <a:ext cx="76200" cy="76200"/>
          </a:xfrm>
          <a:prstGeom prst="ellipse">
            <a:avLst/>
          </a:prstGeom>
          <a:solidFill>
            <a:schemeClr val="lt1">
              <a:alpha val="14000"/>
            </a:schemeClr>
          </a:solidFill>
          <a:ln>
            <a:noFill/>
          </a:ln>
        </p:spPr>
      </p:sp>
      <p:sp>
        <p:nvSpPr>
          <p:cNvPr id="146" name="TextBox 146"/>
          <p:cNvSpPr txBox="1"/>
          <p:nvPr/>
        </p:nvSpPr>
        <p:spPr>
          <a:xfrm>
            <a:off x="755142" y="1073468"/>
            <a:ext cx="10250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75" dirty="0">
                <a:solidFill>
                  <a:srgbClr val="FFFFFF">
                    <a:alphaMod val="75000"/>
                  </a:srgbClr>
                </a:solidFill>
                <a:latin typeface="+mn-lt"/>
                <a:ea typeface="+mn-ea"/>
                <a:cs typeface="+mn-cs"/>
              </a:rPr>
              <a:t>PART 03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9545117" y="990600"/>
            <a:ext cx="1903933" cy="2305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0" b="1" dirty="0">
                <a:solidFill>
                  <a:srgbClr val="FFFFFF">
                    <a:alphaMod val="16000"/>
                  </a:srgbClr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742950" y="1651635"/>
            <a:ext cx="46421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5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测序能做什么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752094" y="2608898"/>
            <a:ext cx="368107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950" dirty="0">
                <a:solidFill>
                  <a:srgbClr val="FFFFFF">
                    <a:alphaMod val="82000"/>
                  </a:srgbClr>
                </a:solidFill>
                <a:latin typeface="Microsoft YaHei"/>
                <a:ea typeface="Microsoft YaHei"/>
                <a:cs typeface="Microsoft YaHei"/>
              </a:rPr>
              <a:t>从 DNA 到 RNA，从序列到修饰</a:t>
            </a:r>
          </a:p>
        </p:txBody>
      </p:sp>
      <p:sp>
        <p:nvSpPr>
          <p:cNvPr id="150" name="Line 150"/>
          <p:cNvSpPr/>
          <p:nvPr/>
        </p:nvSpPr>
        <p:spPr>
          <a:xfrm>
            <a:off x="762000" y="32766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</p:sp>
      <p:sp>
        <p:nvSpPr>
          <p:cNvPr id="151" name="Ellipse 151"/>
          <p:cNvSpPr/>
          <p:nvPr/>
        </p:nvSpPr>
        <p:spPr>
          <a:xfrm>
            <a:off x="814388" y="37480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52" name="TextBox 152"/>
          <p:cNvSpPr txBox="1"/>
          <p:nvPr/>
        </p:nvSpPr>
        <p:spPr>
          <a:xfrm>
            <a:off x="1059180" y="3686175"/>
            <a:ext cx="33817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DNA 研究：全基因组、外显子、ChIP</a:t>
            </a:r>
          </a:p>
        </p:txBody>
      </p:sp>
      <p:sp>
        <p:nvSpPr>
          <p:cNvPr id="153" name="Ellipse 153"/>
          <p:cNvSpPr/>
          <p:nvPr/>
        </p:nvSpPr>
        <p:spPr>
          <a:xfrm>
            <a:off x="814388" y="41671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54" name="TextBox 154"/>
          <p:cNvSpPr txBox="1"/>
          <p:nvPr/>
        </p:nvSpPr>
        <p:spPr>
          <a:xfrm>
            <a:off x="1059180" y="4105275"/>
            <a:ext cx="504626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RNA 研究：total RNA、mRNA、small RNA、核糖体印迹</a:t>
            </a:r>
          </a:p>
        </p:txBody>
      </p:sp>
      <p:sp>
        <p:nvSpPr>
          <p:cNvPr id="155" name="Ellipse 155"/>
          <p:cNvSpPr/>
          <p:nvPr/>
        </p:nvSpPr>
        <p:spPr>
          <a:xfrm>
            <a:off x="814388" y="45862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56" name="TextBox 156"/>
          <p:cNvSpPr txBox="1"/>
          <p:nvPr/>
        </p:nvSpPr>
        <p:spPr>
          <a:xfrm>
            <a:off x="1059180" y="452437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修饰研究：甲基化及其他表观修饰</a:t>
            </a:r>
          </a:p>
        </p:txBody>
      </p:sp>
      <p:sp>
        <p:nvSpPr>
          <p:cNvPr id="157" name="Ellipse 157"/>
          <p:cNvSpPr/>
          <p:nvPr/>
        </p:nvSpPr>
        <p:spPr>
          <a:xfrm>
            <a:off x="814388" y="50053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58" name="TextBox 158"/>
          <p:cNvSpPr txBox="1"/>
          <p:nvPr/>
        </p:nvSpPr>
        <p:spPr>
          <a:xfrm>
            <a:off x="1059180" y="49434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还有宏基因组与扩增子测序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第三部分 · 测序能做什么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9FB0C4"/>
                </a:solidFill>
                <a:latin typeface="+mn-lt"/>
                <a:ea typeface="+mn-ea"/>
                <a:cs typeface="+mn-cs"/>
              </a:rPr>
              <a:t>29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6928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APPLICATIONS</a:t>
            </a:r>
          </a:p>
        </p:txBody>
      </p:sp>
      <p:sp>
        <p:nvSpPr>
          <p:cNvPr id="4" name="Rectangle 4"/>
          <p:cNvSpPr/>
          <p:nvPr/>
        </p:nvSpPr>
        <p:spPr>
          <a:xfrm>
            <a:off x="9345930" y="723900"/>
            <a:ext cx="2084070" cy="285750"/>
          </a:xfrm>
          <a:prstGeom prst="roundRect">
            <a:avLst>
              <a:gd name="adj" fmla="val 50000"/>
            </a:avLst>
          </a:prstGeom>
          <a:solidFill>
            <a:schemeClr val="accent2">
              <a:alpha val="12000"/>
            </a:scheme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501759" y="7943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一条读长能回答一个问题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3712" y="1211580"/>
            <a:ext cx="811694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DNA、RNA 与修饰，三条路互不通用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618" y="1841182"/>
            <a:ext cx="43117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DNA、RNA、修饰，各自有成熟的技术路线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686050"/>
            <a:ext cx="5200650" cy="1438275"/>
          </a:xfrm>
          <a:prstGeom prst="roundRect">
            <a:avLst>
              <a:gd name="adj" fmla="val 794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2686050"/>
            <a:ext cx="57150" cy="1438275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1837" y="2899886"/>
            <a:ext cx="10077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DNA 研究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504" y="3261360"/>
            <a:ext cx="51663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全基因组测序、外显子与靶向重测序、ChIP-seq。回答「基因组是什么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4504" y="348043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样、哪里被调控」。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29350" y="2686050"/>
            <a:ext cx="5200650" cy="1438275"/>
          </a:xfrm>
          <a:prstGeom prst="roundRect">
            <a:avLst>
              <a:gd name="adj" fmla="val 794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229350" y="2686050"/>
            <a:ext cx="57150" cy="143827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49187" y="2899886"/>
            <a:ext cx="10077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RNA 研究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51854" y="3261360"/>
            <a:ext cx="51910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total RNA、mRNA、small RNA、核糖体印迹（Ribo-seq）。回答「哪些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1854" y="348043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基因在表达、表达多少」。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391025"/>
            <a:ext cx="5200650" cy="1438275"/>
          </a:xfrm>
          <a:prstGeom prst="roundRect">
            <a:avLst>
              <a:gd name="adj" fmla="val 794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762000" y="4391025"/>
            <a:ext cx="57150" cy="1438275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81837" y="4604861"/>
            <a:ext cx="9437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修饰研究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4504" y="4966335"/>
            <a:ext cx="5020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甲基化测序及其他表观修饰检测。回答「基因组如何被化学修饰调控」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4504" y="5185410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29350" y="4391025"/>
            <a:ext cx="5200650" cy="1438275"/>
          </a:xfrm>
          <a:prstGeom prst="roundRect">
            <a:avLst>
              <a:gd name="adj" fmla="val 794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29350" y="4391025"/>
            <a:ext cx="57150" cy="14382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449187" y="4604861"/>
            <a:ext cx="9437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选择逻辑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51854" y="4966335"/>
            <a:ext cx="5020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每个方向都有对应的建库方案与分析方法。选错方案，后面再努力也补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51854" y="51854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不回来。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82980" y="6067425"/>
            <a:ext cx="4053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先确定要回答的生物学问题，再决定测序方案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第三部分 · 测序能做什么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30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45389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CHEATSHEET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对号入座：应用决定建库方案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拿到需求先查这张表，再定测序策略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590800"/>
            <a:ext cx="10668000" cy="314325"/>
          </a:xfrm>
          <a:prstGeom prst="roundRect">
            <a:avLst>
              <a:gd name="adj" fmla="val 24242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70204" y="2670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94749" y="26708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回答什么问题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86295" y="2670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典型产出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2905125"/>
            <a:ext cx="10668000" cy="314325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70204" y="2975610"/>
            <a:ext cx="9742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De novo 组装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94749" y="29756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首次测定某物种的完整基因组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86295" y="2975610"/>
            <a:ext cx="17326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contig / scaffold 序列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0204" y="32899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全基因组重测序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94749" y="3289935"/>
            <a:ext cx="1249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寻找 SNP 与突变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6295" y="3289935"/>
            <a:ext cx="13179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变异列表（VCF）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524250"/>
            <a:ext cx="10668000" cy="314325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70204" y="36042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外显子测序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94749" y="360426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只测蛋白编码区，找致病变异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86295" y="36042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外显子区变异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0204" y="3918585"/>
            <a:ext cx="14823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转录组（RNA-seq）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94749" y="3918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测定基因表达水平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86295" y="3918585"/>
            <a:ext cx="17407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表达矩阵 / count table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4152900"/>
            <a:ext cx="10668000" cy="314325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70204" y="4232910"/>
            <a:ext cx="6988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ChIP-seq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94749" y="4232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定位蛋白质与 DNA 的结合位点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86295" y="4232910"/>
            <a:ext cx="11753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峰（peak）区域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0204" y="4537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甲基化测序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94749" y="453771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测定基因组甲基化模式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86295" y="45377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甲基化位点与区域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4781550"/>
            <a:ext cx="10668000" cy="314325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70204" y="48520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宏基因组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94749" y="4852035"/>
            <a:ext cx="2393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同时测环境中多种微生物的 DNA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6295" y="48520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物种与功能组成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204" y="51663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宏转录组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294749" y="5166360"/>
            <a:ext cx="18812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同时测多种微生物的 RNA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86295" y="51663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活性物种与通路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5400675"/>
            <a:ext cx="10668000" cy="314325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70204" y="54806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扩增子测序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94749" y="5480685"/>
            <a:ext cx="21031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对 PCR 扩增的特定区域测序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86295" y="548068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物种分类学组成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82980" y="6067425"/>
            <a:ext cx="42557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应用列表能帮你快速判断：我的问题属于哪一类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第三部分 · 测序能做什么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31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6025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COST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36752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成本下降比摩尔定律还快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6114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一个人全基因组测序已进入数百美元量级（约 200–600 美元）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2907982"/>
            <a:ext cx="4762500" cy="268033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测序成本随时间的变化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37782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人类基因组计划耗时 13 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15701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花费约 30 亿美元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今天单个人类基因组测序成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本已降到数百美元量级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成本下降让「大规模群体测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序」成为常规操作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8605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但也带来新问题：数据存储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78605" y="43148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与分析的瓶颈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97280" y="51530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算力与人力，正在取代测序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280" y="54006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本身成为瓶颈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第三部分 · 测序能做什么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32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63098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DATA VOLUME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真正的瓶颈不在测序，在数据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测序变便宜之后，瓶颈转移到了下游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2937510"/>
            <a:ext cx="4762500" cy="262032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测序数据量的增长趋势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5115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单个项目动辄产生 TB 级原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始数据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存储成本与传输成本迅速上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升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比对与定量所需的计算资源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成为新瓶颈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8605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数据管理规范（元数据、版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78605" y="431482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本、可追溯）越来越重要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97280" y="51530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软件工程能力，开始决定科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280" y="540067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研产出效率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第三部分 · 测序能做什么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33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6828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EXPERIMENTAL DESIGN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92727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测序前，先把“比较”设计好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平台和流程不能替你补回缺失的对照与重复</a:t>
            </a:r>
          </a:p>
        </p:txBody>
      </p:sp>
      <p:sp>
        <p:nvSpPr>
          <p:cNvPr id="6" name="Line 6"/>
          <p:cNvSpPr/>
          <p:nvPr/>
        </p:nvSpPr>
        <p:spPr>
          <a:xfrm>
            <a:off x="1466850" y="3886200"/>
            <a:ext cx="8915400" cy="9525"/>
          </a:xfrm>
          <a:custGeom>
            <a:avLst/>
            <a:gdLst/>
            <a:ahLst/>
            <a:cxnLst/>
            <a:rect l="l" t="t" r="r" b="b"/>
            <a:pathLst>
              <a:path w="8915400" h="9525">
                <a:moveTo>
                  <a:pt x="0" y="0"/>
                </a:moveTo>
                <a:lnTo>
                  <a:pt x="8915400" y="0"/>
                </a:lnTo>
              </a:path>
            </a:pathLst>
          </a:custGeom>
          <a:noFill/>
          <a:ln w="38100">
            <a:solidFill>
              <a:srgbClr val="CFD8E3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162050" y="3371850"/>
            <a:ext cx="1028700" cy="102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84102" y="3745230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Ellipse 9"/>
          <p:cNvSpPr/>
          <p:nvPr/>
        </p:nvSpPr>
        <p:spPr>
          <a:xfrm>
            <a:off x="4133850" y="3371850"/>
            <a:ext cx="1028700" cy="1028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555902" y="3745230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Ellipse 11"/>
          <p:cNvSpPr/>
          <p:nvPr/>
        </p:nvSpPr>
        <p:spPr>
          <a:xfrm>
            <a:off x="7105650" y="3371850"/>
            <a:ext cx="1028700" cy="102870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27702" y="3745230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Ellipse 13"/>
          <p:cNvSpPr/>
          <p:nvPr/>
        </p:nvSpPr>
        <p:spPr>
          <a:xfrm>
            <a:off x="10077450" y="3371850"/>
            <a:ext cx="1028700" cy="102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499502" y="3745230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36091" y="2766536"/>
            <a:ext cx="48061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3462" y="313086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3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比较什么差异？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07891" y="2766536"/>
            <a:ext cx="48061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14394" y="313086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3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对照、重复、批次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79691" y="2766536"/>
            <a:ext cx="48061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测序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95326" y="31308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3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深度与覆盖够不够？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51491" y="2766536"/>
            <a:ext cx="48061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48862" y="313086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3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结果能否复现？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4762500"/>
            <a:ext cx="10668000" cy="1009650"/>
          </a:xfrm>
          <a:prstGeom prst="roundRect">
            <a:avLst>
              <a:gd name="adj" fmla="val 1132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59942" y="4959668"/>
            <a:ext cx="19251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b="1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不同 assay 的最小检查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9942" y="5283518"/>
            <a:ext cx="85000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RNA-seq：生物学重复 ｜ ATAC-seq / ChIP-seq：input 与对照 ｜ 单细胞：细胞数、双细胞与环境 RNA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82980" y="6067425"/>
            <a:ext cx="42557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没有对照与重复，流水线只能给你一张漂亮的表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第三部分 · 测序能做什么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84387" y="6518910"/>
            <a:ext cx="23277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参考：ENCODE Best Practices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34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8315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WHAT IT MEANS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85216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平台在变，有些东西不会变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5569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读长、数据量、工具都在变，但底层的共同语言留得下来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读长更长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980" y="30575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比对与组装算法要处理更长的序列与更多错误类型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484245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4504" y="348805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数据更多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980" y="3722370"/>
            <a:ext cx="48585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单项目 TB 级已是常态，存储与算力预算要提前规划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414909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4504" y="415290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空间维度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980" y="4387215"/>
            <a:ext cx="46596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除了表达量，还要处理坐标信息，分析工具链在快速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2980" y="465391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变化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61379" y="2823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格式稳定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59855" y="3057525"/>
            <a:ext cx="49118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FASTA / FASTQ / SAM / VCF 依然是共同语言，学好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59855" y="33242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它们不会过时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38875" y="3750945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461379" y="375475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能力重心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59855" y="3989070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越来越从「会跑流程」转向「会设计分析」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82980" y="6067425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工具会换，格式与思维方式会留下来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第三部分 · 测序能做什么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35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0858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82142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小结：先想清楚问题，再选技术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三大方向、成本与数据量指向同一个判断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问题导向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218" y="3041332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先写清「我要回答什么」，再选测序方案与深度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5242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4504" y="35280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三大方向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218" y="3746182"/>
            <a:ext cx="45463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DNA、RNA、修饰，各有成熟路线，不要混用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42291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4504" y="42329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218" y="44510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测序本身已不是瓶颈，算力与数据管理才是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461379" y="28232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数据量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9093" y="3041332"/>
            <a:ext cx="45698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TB 级数据是常态，规范管理从第一天就要做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38875" y="35242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461379" y="35280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判断标准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59093" y="3746182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一项测序实验是否值得做，取决于它能否排除其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59093" y="4031932"/>
            <a:ext cx="68313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他假设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5143500"/>
            <a:ext cx="10668000" cy="609600"/>
          </a:xfrm>
          <a:prstGeom prst="roundRect">
            <a:avLst>
              <a:gd name="adj" fmla="val 15625"/>
            </a:avLst>
          </a:prstGeom>
          <a:solidFill>
            <a:schemeClr val="lt1"/>
          </a:solidFill>
          <a:ln w="14288">
            <a:solidFill>
              <a:schemeClr val="accent2">
                <a:alpha val="35000"/>
              </a:schemeClr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62000" y="5143500"/>
            <a:ext cx="57150" cy="609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82980" y="5362575"/>
            <a:ext cx="76699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下一部分 · 六种文件格式</a:t>
            </a:r>
            <a:r>
              <a:rPr lang="zh-Hans-CN" sz="15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 xml:space="preserve"> —— 答案不在机器里，在数据落地的文件里：先学会读那四行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82980" y="6067425"/>
            <a:ext cx="42557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技术选择的第一步不是比较平台，而是明确问题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第三部分 · 测序能做什么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36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239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6811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5384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3956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2529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101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9674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8246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76819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85391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964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2536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11109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8239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6811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25384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33956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42529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1101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59674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68246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76819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85391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93964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102536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111109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239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6811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25384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33956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42529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51101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59674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68246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76819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85391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93964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102536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111109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8239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16811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25384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33956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42529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51101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59674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68246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76819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85391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93964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102536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111109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8239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16811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25384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33956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8" name="Ellipse 58"/>
          <p:cNvSpPr/>
          <p:nvPr/>
        </p:nvSpPr>
        <p:spPr>
          <a:xfrm>
            <a:off x="42529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51101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0" name="Ellipse 60"/>
          <p:cNvSpPr/>
          <p:nvPr/>
        </p:nvSpPr>
        <p:spPr>
          <a:xfrm>
            <a:off x="59674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1" name="Ellipse 61"/>
          <p:cNvSpPr/>
          <p:nvPr/>
        </p:nvSpPr>
        <p:spPr>
          <a:xfrm>
            <a:off x="68246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2" name="Ellipse 62"/>
          <p:cNvSpPr/>
          <p:nvPr/>
        </p:nvSpPr>
        <p:spPr>
          <a:xfrm>
            <a:off x="76819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3" name="Ellipse 63"/>
          <p:cNvSpPr/>
          <p:nvPr/>
        </p:nvSpPr>
        <p:spPr>
          <a:xfrm>
            <a:off x="85391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93964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5" name="Ellipse 65"/>
          <p:cNvSpPr/>
          <p:nvPr/>
        </p:nvSpPr>
        <p:spPr>
          <a:xfrm>
            <a:off x="102536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111109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7" name="Ellipse 67"/>
          <p:cNvSpPr/>
          <p:nvPr/>
        </p:nvSpPr>
        <p:spPr>
          <a:xfrm>
            <a:off x="8239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8" name="Ellipse 68"/>
          <p:cNvSpPr/>
          <p:nvPr/>
        </p:nvSpPr>
        <p:spPr>
          <a:xfrm>
            <a:off x="16811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9" name="Ellipse 69"/>
          <p:cNvSpPr/>
          <p:nvPr/>
        </p:nvSpPr>
        <p:spPr>
          <a:xfrm>
            <a:off x="25384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33956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42529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2" name="Ellipse 72"/>
          <p:cNvSpPr/>
          <p:nvPr/>
        </p:nvSpPr>
        <p:spPr>
          <a:xfrm>
            <a:off x="51101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3" name="Ellipse 73"/>
          <p:cNvSpPr/>
          <p:nvPr/>
        </p:nvSpPr>
        <p:spPr>
          <a:xfrm>
            <a:off x="59674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68246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5" name="Ellipse 75"/>
          <p:cNvSpPr/>
          <p:nvPr/>
        </p:nvSpPr>
        <p:spPr>
          <a:xfrm>
            <a:off x="76819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6" name="Ellipse 76"/>
          <p:cNvSpPr/>
          <p:nvPr/>
        </p:nvSpPr>
        <p:spPr>
          <a:xfrm>
            <a:off x="85391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7" name="Ellipse 77"/>
          <p:cNvSpPr/>
          <p:nvPr/>
        </p:nvSpPr>
        <p:spPr>
          <a:xfrm>
            <a:off x="93964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8" name="Ellipse 78"/>
          <p:cNvSpPr/>
          <p:nvPr/>
        </p:nvSpPr>
        <p:spPr>
          <a:xfrm>
            <a:off x="102536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9" name="Ellipse 79"/>
          <p:cNvSpPr/>
          <p:nvPr/>
        </p:nvSpPr>
        <p:spPr>
          <a:xfrm>
            <a:off x="111109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0" name="Ellipse 80"/>
          <p:cNvSpPr/>
          <p:nvPr/>
        </p:nvSpPr>
        <p:spPr>
          <a:xfrm>
            <a:off x="8239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1" name="Ellipse 81"/>
          <p:cNvSpPr/>
          <p:nvPr/>
        </p:nvSpPr>
        <p:spPr>
          <a:xfrm>
            <a:off x="16811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2" name="Ellipse 82"/>
          <p:cNvSpPr/>
          <p:nvPr/>
        </p:nvSpPr>
        <p:spPr>
          <a:xfrm>
            <a:off x="25384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3" name="Ellipse 83"/>
          <p:cNvSpPr/>
          <p:nvPr/>
        </p:nvSpPr>
        <p:spPr>
          <a:xfrm>
            <a:off x="33956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4" name="Ellipse 84"/>
          <p:cNvSpPr/>
          <p:nvPr/>
        </p:nvSpPr>
        <p:spPr>
          <a:xfrm>
            <a:off x="42529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5" name="Ellipse 85"/>
          <p:cNvSpPr/>
          <p:nvPr/>
        </p:nvSpPr>
        <p:spPr>
          <a:xfrm>
            <a:off x="51101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6" name="Ellipse 86"/>
          <p:cNvSpPr/>
          <p:nvPr/>
        </p:nvSpPr>
        <p:spPr>
          <a:xfrm>
            <a:off x="59674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7" name="Ellipse 87"/>
          <p:cNvSpPr/>
          <p:nvPr/>
        </p:nvSpPr>
        <p:spPr>
          <a:xfrm>
            <a:off x="68246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8" name="Ellipse 88"/>
          <p:cNvSpPr/>
          <p:nvPr/>
        </p:nvSpPr>
        <p:spPr>
          <a:xfrm>
            <a:off x="76819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9" name="Ellipse 89"/>
          <p:cNvSpPr/>
          <p:nvPr/>
        </p:nvSpPr>
        <p:spPr>
          <a:xfrm>
            <a:off x="85391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0" name="Ellipse 90"/>
          <p:cNvSpPr/>
          <p:nvPr/>
        </p:nvSpPr>
        <p:spPr>
          <a:xfrm>
            <a:off x="93964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1" name="Ellipse 91"/>
          <p:cNvSpPr/>
          <p:nvPr/>
        </p:nvSpPr>
        <p:spPr>
          <a:xfrm>
            <a:off x="102536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2" name="Ellipse 92"/>
          <p:cNvSpPr/>
          <p:nvPr/>
        </p:nvSpPr>
        <p:spPr>
          <a:xfrm>
            <a:off x="111109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3" name="Freeform 93"/>
          <p:cNvSpPr/>
          <p:nvPr/>
        </p:nvSpPr>
        <p:spPr>
          <a:xfrm>
            <a:off x="1714500" y="2952750"/>
            <a:ext cx="3810000" cy="2952750"/>
          </a:xfrm>
          <a:custGeom>
            <a:avLst/>
            <a:gdLst/>
            <a:ahLst/>
            <a:cxnLst/>
            <a:rect l="l" t="t" r="r" b="b"/>
            <a:pathLst>
              <a:path w="3810000" h="2952750">
                <a:moveTo>
                  <a:pt x="0" y="295275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rgbClr val="FFFFFF">
                <a:alpha val="45000"/>
              </a:srgbClr>
            </a:solidFill>
          </a:ln>
        </p:spPr>
      </p:sp>
      <p:sp>
        <p:nvSpPr>
          <p:cNvPr id="94" name="Freeform 94"/>
          <p:cNvSpPr/>
          <p:nvPr/>
        </p:nvSpPr>
        <p:spPr>
          <a:xfrm>
            <a:off x="3143250" y="2952750"/>
            <a:ext cx="3810000" cy="2952750"/>
          </a:xfrm>
          <a:custGeom>
            <a:avLst/>
            <a:gdLst/>
            <a:ahLst/>
            <a:cxnLst/>
            <a:rect l="l" t="t" r="r" b="b"/>
            <a:pathLst>
              <a:path w="3810000" h="2952750">
                <a:moveTo>
                  <a:pt x="0" y="295275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rgbClr val="FFFFFF">
                <a:alpha val="33000"/>
              </a:srgbClr>
            </a:solidFill>
          </a:ln>
        </p:spPr>
      </p:sp>
      <p:sp>
        <p:nvSpPr>
          <p:cNvPr id="95" name="Freeform 95"/>
          <p:cNvSpPr/>
          <p:nvPr/>
        </p:nvSpPr>
        <p:spPr>
          <a:xfrm>
            <a:off x="4572000" y="2952750"/>
            <a:ext cx="3810000" cy="2952750"/>
          </a:xfrm>
          <a:custGeom>
            <a:avLst/>
            <a:gdLst/>
            <a:ahLst/>
            <a:cxnLst/>
            <a:rect l="l" t="t" r="r" b="b"/>
            <a:pathLst>
              <a:path w="3810000" h="2952750">
                <a:moveTo>
                  <a:pt x="0" y="295275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rgbClr val="FFFFFF">
                <a:alpha val="21000"/>
              </a:srgbClr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755142" y="1073468"/>
            <a:ext cx="10250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75" dirty="0">
                <a:solidFill>
                  <a:srgbClr val="FFFFFF">
                    <a:alphaMod val="75000"/>
                  </a:srgbClr>
                </a:solidFill>
                <a:latin typeface="+mn-lt"/>
                <a:ea typeface="+mn-ea"/>
                <a:cs typeface="+mn-cs"/>
              </a:rPr>
              <a:t>PART 04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545117" y="990600"/>
            <a:ext cx="1903933" cy="2305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0" b="1" dirty="0">
                <a:solidFill>
                  <a:srgbClr val="FFFFFF">
                    <a:alphaMod val="16000"/>
                  </a:srgbClr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42950" y="1651635"/>
            <a:ext cx="847877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5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六种必须认识的文件格式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752094" y="2608898"/>
            <a:ext cx="448246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950" dirty="0">
                <a:solidFill>
                  <a:srgbClr val="FFFFFF">
                    <a:alphaMod val="82000"/>
                  </a:srgbClr>
                </a:solidFill>
                <a:latin typeface="Microsoft YaHei"/>
                <a:ea typeface="Microsoft YaHei"/>
                <a:cs typeface="Microsoft YaHei"/>
              </a:rPr>
              <a:t>生物信息学的「读写能力」从这里开始</a:t>
            </a:r>
          </a:p>
        </p:txBody>
      </p:sp>
      <p:sp>
        <p:nvSpPr>
          <p:cNvPr id="100" name="Line 100"/>
          <p:cNvSpPr/>
          <p:nvPr/>
        </p:nvSpPr>
        <p:spPr>
          <a:xfrm>
            <a:off x="762000" y="32766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</p:sp>
      <p:sp>
        <p:nvSpPr>
          <p:cNvPr id="101" name="Ellipse 101"/>
          <p:cNvSpPr/>
          <p:nvPr/>
        </p:nvSpPr>
        <p:spPr>
          <a:xfrm>
            <a:off x="814388" y="37480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02" name="TextBox 102"/>
          <p:cNvSpPr txBox="1"/>
          <p:nvPr/>
        </p:nvSpPr>
        <p:spPr>
          <a:xfrm>
            <a:off x="1059180" y="3686175"/>
            <a:ext cx="12420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FASTA：序列</a:t>
            </a:r>
          </a:p>
        </p:txBody>
      </p:sp>
      <p:sp>
        <p:nvSpPr>
          <p:cNvPr id="103" name="Ellipse 103"/>
          <p:cNvSpPr/>
          <p:nvPr/>
        </p:nvSpPr>
        <p:spPr>
          <a:xfrm>
            <a:off x="814388" y="41671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04" name="TextBox 104"/>
          <p:cNvSpPr txBox="1"/>
          <p:nvPr/>
        </p:nvSpPr>
        <p:spPr>
          <a:xfrm>
            <a:off x="1059180" y="4105275"/>
            <a:ext cx="21701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FASTQ：序列 + 质量值</a:t>
            </a:r>
          </a:p>
        </p:txBody>
      </p:sp>
      <p:sp>
        <p:nvSpPr>
          <p:cNvPr id="105" name="Ellipse 105"/>
          <p:cNvSpPr/>
          <p:nvPr/>
        </p:nvSpPr>
        <p:spPr>
          <a:xfrm>
            <a:off x="814388" y="45862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06" name="TextBox 106"/>
          <p:cNvSpPr txBox="1"/>
          <p:nvPr/>
        </p:nvSpPr>
        <p:spPr>
          <a:xfrm>
            <a:off x="1059180" y="4524375"/>
            <a:ext cx="23622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GTF / GFF3：基因组注释</a:t>
            </a:r>
          </a:p>
        </p:txBody>
      </p:sp>
      <p:sp>
        <p:nvSpPr>
          <p:cNvPr id="107" name="Ellipse 107"/>
          <p:cNvSpPr/>
          <p:nvPr/>
        </p:nvSpPr>
        <p:spPr>
          <a:xfrm>
            <a:off x="814388" y="50053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08" name="TextBox 108"/>
          <p:cNvSpPr txBox="1"/>
          <p:nvPr/>
        </p:nvSpPr>
        <p:spPr>
          <a:xfrm>
            <a:off x="1059180" y="4943475"/>
            <a:ext cx="16474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BED：基因组区间</a:t>
            </a:r>
          </a:p>
        </p:txBody>
      </p:sp>
      <p:sp>
        <p:nvSpPr>
          <p:cNvPr id="109" name="Ellipse 109"/>
          <p:cNvSpPr/>
          <p:nvPr/>
        </p:nvSpPr>
        <p:spPr>
          <a:xfrm>
            <a:off x="814388" y="54244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10" name="TextBox 110"/>
          <p:cNvSpPr txBox="1"/>
          <p:nvPr/>
        </p:nvSpPr>
        <p:spPr>
          <a:xfrm>
            <a:off x="1059180" y="5362575"/>
            <a:ext cx="21168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SAM / BAM：比对结果</a:t>
            </a:r>
          </a:p>
        </p:txBody>
      </p:sp>
      <p:sp>
        <p:nvSpPr>
          <p:cNvPr id="111" name="Ellipse 111"/>
          <p:cNvSpPr/>
          <p:nvPr/>
        </p:nvSpPr>
        <p:spPr>
          <a:xfrm>
            <a:off x="814388" y="58435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1059180" y="5781675"/>
            <a:ext cx="16047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VCF / BCF：变异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9FB0C4"/>
                </a:solidFill>
                <a:latin typeface="+mn-lt"/>
                <a:ea typeface="+mn-ea"/>
                <a:cs typeface="+mn-cs"/>
              </a:rPr>
              <a:t>37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1861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9004097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六种格式里，只有 BAM / BCF 是二进制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文本便于阅读，二进制便于计算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57500"/>
            <a:ext cx="10668000" cy="409575"/>
          </a:xfrm>
          <a:prstGeom prst="roundRect">
            <a:avLst>
              <a:gd name="adj" fmla="val 18605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70204" y="29946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格式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80322" y="29946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存什么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59263" y="29946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41851" y="29946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二进制版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3267075"/>
            <a:ext cx="10668000" cy="409575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70204" y="3404235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FASTA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80322" y="34042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序列数据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59263" y="34042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文本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41851" y="340423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0204" y="3813810"/>
            <a:ext cx="515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FASTQ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80322" y="3813810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序列 + 质量值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59263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文本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41851" y="381381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4086225"/>
            <a:ext cx="10668000" cy="409575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70204" y="4223385"/>
            <a:ext cx="865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GTF / GFF3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80322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基因组注释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59263" y="42233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文本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41851" y="422338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0204" y="46329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80322" y="46329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基因组区域位置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59263" y="4632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文本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41851" y="463296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4895850"/>
            <a:ext cx="10668000" cy="409575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70204" y="5042535"/>
            <a:ext cx="3279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SAM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80322" y="50425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比对数据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59263" y="50425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文本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41851" y="5042535"/>
            <a:ext cx="3279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BAM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0204" y="5442585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VCF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380322" y="54425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基因组变异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59263" y="54425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文本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41851" y="5442585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BCF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82980" y="6067425"/>
            <a:ext cx="49646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二进制版本更快更小，生产环境几乎都用 BAM / BCF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38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7124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FASTA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8171993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FASTA：两行结构，描述行决定下游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60405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一个 &gt; 号，一到多行序列，仅此而已</a:t>
            </a:r>
          </a:p>
        </p:txBody>
      </p:sp>
      <p:sp>
        <p:nvSpPr>
          <p:cNvPr id="6" name="Rectangle 6"/>
          <p:cNvSpPr/>
          <p:nvPr/>
        </p:nvSpPr>
        <p:spPr>
          <a:xfrm>
            <a:off x="6591300" y="2857500"/>
            <a:ext cx="4991100" cy="2952750"/>
          </a:xfrm>
          <a:prstGeom prst="roundRect">
            <a:avLst>
              <a:gd name="adj" fmla="val 3226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6591300" y="2857500"/>
            <a:ext cx="4991100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6772275" y="297180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943725" y="297180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7115175" y="297180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888218" y="2937510"/>
            <a:ext cx="5669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FASTA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686550" y="3638550"/>
            <a:ext cx="38100" cy="2095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75323" y="3634264"/>
            <a:ext cx="17791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&gt;seq1 first sequence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75323" y="3872389"/>
            <a:ext cx="331747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ATGCGGTACCTGAAGCTTCAGGATCCGGCATTA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75323" y="4110514"/>
            <a:ext cx="31172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TTCAGGCTAGGCATCGATCCGTAGGCTACGA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75704" y="4709160"/>
            <a:ext cx="25981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7F9DC4"/>
                </a:solidFill>
                <a:latin typeface="Microsoft YaHei"/>
                <a:ea typeface="Microsoft YaHei"/>
                <a:cs typeface="Microsoft YaHei"/>
              </a:rPr>
              <a:t>空格之前那一段，才是工具认的 ID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75704" y="5033010"/>
            <a:ext cx="27584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7F9DC4"/>
                </a:solidFill>
                <a:latin typeface="Microsoft YaHei"/>
                <a:ea typeface="Microsoft YaHei"/>
                <a:cs typeface="Microsoft YaHei"/>
              </a:rPr>
              <a:t>碱基行可以任意折行，读取时拼成一条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85204" y="6099810"/>
            <a:ext cx="21201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一条 FASTA 记录的最小写法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97280" y="2981325"/>
            <a:ext cx="255422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用于表征 DNA / RNA / 蛋白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7280" y="32289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质序列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078605" y="2981325"/>
            <a:ext cx="24686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第一行以 &gt; 开头，是描述信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78605" y="3228975"/>
            <a:ext cx="15407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息（ID 与注释）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97280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第二行是序列，可以写成多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7280" y="431482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行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078605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没有质量值，只有序列本身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97280" y="51530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参考基因组、转录本序列、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97280" y="54006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蛋白序列都用它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39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7124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FASTA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79068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描述行给工具认，序列行可以随便折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同一条序列，不同来源的写法差别不小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3400425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73792"/>
            <a:ext cx="3248025" cy="130111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539496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数据库页面同样分两块：说明与序列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5904" y="60998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序列与描述行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391025" y="2647950"/>
            <a:ext cx="3400425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4467225" y="2800350"/>
            <a:ext cx="3248025" cy="2381250"/>
          </a:xfrm>
          <a:prstGeom prst="roundRect">
            <a:avLst>
              <a:gd name="adj" fmla="val 4000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467225" y="2800350"/>
            <a:ext cx="3248025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4648200" y="291465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4819650" y="291465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4991100" y="291465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130720" y="2880360"/>
            <a:ext cx="4858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WRAP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32198" y="3291364"/>
            <a:ext cx="4868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&gt;seq1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32198" y="3529489"/>
            <a:ext cx="12145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ATGGCCCTGGGC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32198" y="3767614"/>
            <a:ext cx="12145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GCGCGCTCACCG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2198" y="4005739"/>
            <a:ext cx="12145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GGCGCTGCTGGC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32198" y="4243864"/>
            <a:ext cx="12145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GCCGGCTTGCAC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84929" y="5394960"/>
            <a:ext cx="24515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四行拼起来，才是一条 48 bp 序列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84929" y="6099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多行序列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020050" y="2647950"/>
            <a:ext cx="3400425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8096250" y="2800350"/>
            <a:ext cx="3248025" cy="2381250"/>
          </a:xfrm>
          <a:prstGeom prst="roundRect">
            <a:avLst>
              <a:gd name="adj" fmla="val 4000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096250" y="2800350"/>
            <a:ext cx="3248025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8277225" y="291465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448675" y="291465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8620125" y="291465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563454" y="2880360"/>
            <a:ext cx="6821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HEADER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229600" y="3295650"/>
            <a:ext cx="1238250" cy="209550"/>
          </a:xfrm>
          <a:prstGeom prst="roundRect">
            <a:avLst>
              <a:gd name="adj" fmla="val 18182"/>
            </a:avLst>
          </a:prstGeom>
          <a:solidFill>
            <a:schemeClr val="accent5">
              <a:alpha val="28000"/>
            </a:scheme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261223" y="3291364"/>
            <a:ext cx="204950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&gt;SRR001666.1 length=36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61223" y="3529489"/>
            <a:ext cx="28167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GGGTGATGGCCGCTGCCGATGGCGTCAA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61223" y="3767614"/>
            <a:ext cx="8140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ATCCCACC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61604" y="4347210"/>
            <a:ext cx="25981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7F9DC4"/>
                </a:solidFill>
                <a:latin typeface="Microsoft YaHei"/>
                <a:ea typeface="Microsoft YaHei"/>
                <a:cs typeface="Microsoft YaHei"/>
              </a:rPr>
              <a:t>高亮的一段被当作 ID，后面是注释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013954" y="5394960"/>
            <a:ext cx="27517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同一条读长，去掉质量值就是 FASTA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013954" y="6099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头行的切分规则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40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750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FASTQ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20714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FASTQ：四行一条记录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79282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比 FASTA 多了一行质量值，这是它的全部意义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57500"/>
            <a:ext cx="6286500" cy="2952750"/>
          </a:xfrm>
          <a:prstGeom prst="roundRect">
            <a:avLst>
              <a:gd name="adj" fmla="val 3226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857500"/>
            <a:ext cx="6286500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42975" y="297180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114425" y="297180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285875" y="297180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282080" y="2937510"/>
            <a:ext cx="6010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FASTQ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023" y="3348514"/>
            <a:ext cx="5265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@SRR001666.1 071112_SLXA-EAS1_s_7:5:1:817:345 length=36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023" y="3586639"/>
            <a:ext cx="36178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GGGTGATGGCCGCTGCCGATGGCGTCAAATCCCACC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023" y="3824764"/>
            <a:ext cx="5265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+SRR001666.1 071112_SLXA-EAS1_s_7:5:1:817:345 length=36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023" y="4062889"/>
            <a:ext cx="21613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IIIIIIIIIIIIIIIIIIIIIIIIIIIIII9IG9IC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353300" y="27813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56754" y="2785110"/>
            <a:ext cx="299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1 行：@ 开头，紧接着序列 ID 与描述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353300" y="320992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56754" y="3213735"/>
            <a:ext cx="13287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2 行：碱基序列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53300" y="363855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556754" y="3642360"/>
            <a:ext cx="37519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3 行：+ 后可重复第 1 行，也可留空，两种都合法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353300" y="406717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556754" y="4070985"/>
            <a:ext cx="2459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4 行：每个碱基对应的质量字符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353300" y="44958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556754" y="449961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序列与质量值理论上可写多行，实践中都写一行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82980" y="6067425"/>
            <a:ext cx="48643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四行一组，记住这个结构，任何 FASTQ 你都能看懂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41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8411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QUALITY VALUE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883067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质量值 Q 是怎么算出来的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一个对数公式，决定了所有质控图的形状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2987040"/>
            <a:ext cx="4762500" cy="252126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8726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Q 值与 ASCII 编码的对应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60394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Q = -10 × log10(p)，p 是该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碱基测错的概率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5862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Q 值越大，错误概率越低，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质量越好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255422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Q 值用 ASCII 字符编码存储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13222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（Phred+33）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8605" y="4067175"/>
            <a:ext cx="24888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编码规则：c = 33 + round(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78605" y="4314825"/>
            <a:ext cx="2926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Q)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97280" y="5153025"/>
            <a:ext cx="25069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例：p = 0.0001 → Q = 40 →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280" y="5400675"/>
            <a:ext cx="23097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c = 33 + 40 = 73 = 字符 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42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0278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LET US COMPUTE</a:t>
            </a:r>
          </a:p>
        </p:txBody>
      </p:sp>
      <p:sp>
        <p:nvSpPr>
          <p:cNvPr id="4" name="Rectangle 4"/>
          <p:cNvSpPr/>
          <p:nvPr/>
        </p:nvSpPr>
        <p:spPr>
          <a:xfrm>
            <a:off x="9422130" y="723900"/>
            <a:ext cx="2007870" cy="285750"/>
          </a:xfrm>
          <a:prstGeom prst="roundRect">
            <a:avLst>
              <a:gd name="adj" fmla="val 50000"/>
            </a:avLst>
          </a:prstGeom>
          <a:solidFill>
            <a:srgbClr val="A06CD5">
              <a:alpha val="1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577959" y="794385"/>
            <a:ext cx="16183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7534B7"/>
                </a:solidFill>
                <a:latin typeface="Microsoft YaHei"/>
                <a:ea typeface="Microsoft YaHei"/>
                <a:cs typeface="Microsoft YaHei"/>
              </a:rPr>
              <a:t>第 4 行的 I 就是 Q40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3712" y="1211580"/>
            <a:ext cx="536752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手算一遍，就再也不会忘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618" y="1841182"/>
            <a:ext cx="192953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Q30 意味着什么？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6286500" cy="2952750"/>
          </a:xfrm>
          <a:prstGeom prst="roundRect">
            <a:avLst>
              <a:gd name="adj" fmla="val 3226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6286500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42975" y="297180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14425" y="297180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285875" y="297180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77076" y="2937510"/>
            <a:ext cx="1060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404" y="3356610"/>
            <a:ext cx="20870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定义：Q = -10 * log10(p)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404" y="375285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例 1：错误概率 p = 0.0001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404" y="3950970"/>
            <a:ext cx="27153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 xml:space="preserve">Q &lt;- -10 * log10(0.0001)        # 40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6404" y="4149090"/>
            <a:ext cx="24956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 xml:space="preserve">c &lt;- 33 + round(Q)              # 73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6404" y="4347210"/>
            <a:ext cx="24107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 xml:space="preserve">intToUtf8(c)                    # 'I'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404" y="4574858"/>
            <a:ext cx="24111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反过来：看到字符，求错误概率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6404" y="4772978"/>
            <a:ext cx="26490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 xml:space="preserve">q &lt;- utf8ToInt('I') - 33        # 40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6404" y="4971098"/>
            <a:ext cx="26695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 xml:space="preserve">p &lt;- 10 ^ (-q / 10)             # 1e-04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6404" y="5367338"/>
            <a:ext cx="21628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Q30 意味着错误率 1/1000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404" y="5565458"/>
            <a:ext cx="25888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 xml:space="preserve">10 ^ (-30 / 10)                 # 0.001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353300" y="27813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556754" y="2785110"/>
            <a:ext cx="29650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Q20 = 1% 错误率，Q30 = 0.1% 错误率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353300" y="320992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56754" y="3213735"/>
            <a:ext cx="40198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Illumina 常用指标 %Q30，即质量值不低于 30 的碱基占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6754" y="3432810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53300" y="385762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56754" y="3861435"/>
            <a:ext cx="34088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一般要求 %Q30 &gt; 80%，严格项目要求 &gt; 90%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353300" y="428625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56754" y="4290060"/>
            <a:ext cx="39984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Phred+33 是现代平台的标准，老数据可能是 Phred+64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82980" y="60674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质控报告里的每一个数字，都能用这个公式推回去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43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8411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QUALITY VALUE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36752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质量值在报告里长什么样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横轴是读长位置，纵轴是质量值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4695"/>
            <a:ext cx="5067300" cy="209931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每个位置的质量分布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118485"/>
            <a:ext cx="5067300" cy="2412682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不同质量等级的色带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44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86994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TOOL · SEQKIT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16962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一个工具管完 FASTA 与 FASTQ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转换、统计、过滤、抽样，命令行一致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2743200"/>
            <a:ext cx="4762500" cy="3009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3865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SeqKit 的功能覆盖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功能覆盖极广，想到的大部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分操作它都有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安装简单：conda install -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17013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c bioconda seqkit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也提供各系统预编译的二进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制文件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8605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体验细致：自动补全、错误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78605" y="43148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提示、进度条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97280" y="5153025"/>
            <a:ext cx="19941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引用量已超过 1800 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280" y="5400675"/>
            <a:ext cx="46491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（截至 2026 年，Google Scholar），社区认可度高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45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9179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TOOL · FASTQC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8844877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FastQC：先看数据好不好，再动手分析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左边是好数据，右边是差数据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2724150"/>
            <a:ext cx="4267200" cy="3200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质量良好的数据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2724150"/>
            <a:ext cx="4267200" cy="3200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存在质量问题的数据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46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0566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TOOL · MULTIQC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947769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MultiQC：把几十份报告汇总成一份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3793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样本一多，逐个看 FastQC 报告是不现实的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3400425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73" y="3994785"/>
            <a:ext cx="3238678" cy="660082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54902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工具出处，方法学部分要引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5904" y="6099810"/>
            <a:ext cx="27476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Ewels et al. (2016) Bioinformatics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391025" y="2647950"/>
            <a:ext cx="3400425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800" y="3987165"/>
            <a:ext cx="3238876" cy="67437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384929" y="5490210"/>
            <a:ext cx="16678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跑完只留下一个 HTML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4929" y="609981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一条命令扫完整个目录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20050" y="2647950"/>
            <a:ext cx="3400425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5" name="Imag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3233738"/>
            <a:ext cx="3248025" cy="2182178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013954" y="6099810"/>
            <a:ext cx="19961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General Statistics 汇总表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47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7312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TOOL · FASTP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28227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fastp：质控与过滤一步完成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速度快，报告直观，适合放进自动化流程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54718"/>
            <a:ext cx="5067300" cy="1740218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11510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fastp 质控报告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76538"/>
            <a:ext cx="5067300" cy="3095625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过滤前后对比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48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20959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GFF / GTF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827824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GFF 与 GTF：基因组的「地图注释」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0887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GFF3 是当前版本，GTF 等同于 GFF 2.5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3079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GFF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218" y="3041332"/>
            <a:ext cx="49213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General Feature Format，当前版本 3，也叫 GF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2218" y="3327082"/>
            <a:ext cx="27493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38100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84504" y="3813810"/>
            <a:ext cx="8016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GFF3 结构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2218" y="4031932"/>
            <a:ext cx="227131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一行一个特征，共 9 列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45148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84504" y="4518660"/>
            <a:ext cx="3079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GTF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2218" y="4736782"/>
            <a:ext cx="473421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Gene Transfer Format，等同于 GFF 2.5 版本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61379" y="2823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九列内容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59093" y="3041332"/>
            <a:ext cx="48479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seqid / source / type / start / end / score /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59093" y="3327082"/>
            <a:ext cx="303763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strand / phase / attributes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38875" y="38100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461379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59093" y="4031932"/>
            <a:ext cx="44592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告诉下游工具「哪里是基因、哪里是外显子」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38875" y="45148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461379" y="45186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注意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59093" y="4736782"/>
            <a:ext cx="471466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start 与 end 的坐标约定（1-based，闭区间）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82980" y="6067425"/>
            <a:ext cx="4053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注释文件错了，定量结果全错，而且很难发现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49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56418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GFF3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4008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GFF3：九列，一行一个特征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98166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第 4、5 列给区间，第 9 列装下其余细节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2890838"/>
            <a:ext cx="4762500" cy="271462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292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GFF3 的九列结构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4686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1 列：所在的序列（染色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12974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体或 contig）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32733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2 列：来源（source）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，通常是软件名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24787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3 列：特征类型（gene /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20032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mRNA / exon / CDS）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8605" y="4067175"/>
            <a:ext cx="24888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4—5 列：起始与终止位置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7280" y="5153025"/>
            <a:ext cx="24888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6—8 列：分值、链方向、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7280" y="5400675"/>
            <a:ext cx="13782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相位（phase）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743325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3743325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3886200" y="52101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078605" y="5153025"/>
            <a:ext cx="24686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 9 列：属性，键值对形式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078605" y="54006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，用分号分隔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50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4159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BED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399611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BED：只关心位置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04874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3—12 列，实际常用 6 列或更多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3101340"/>
            <a:ext cx="4762500" cy="229266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027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BED 的列结构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63102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Browser Extensible Data，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为浏览器可视化设计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18629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最少 3 列：染色体、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起始与终止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20648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常用 6 列：加上名称、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分值、链方向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8605" y="4067175"/>
            <a:ext cx="237782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还可以扩展到 12 列，加入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78605" y="43148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块信息与颜色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97280" y="5153025"/>
            <a:ext cx="24081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坐标约定：0-based，半开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280" y="5400675"/>
            <a:ext cx="17754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区间，与 GFF 不同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51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3344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IMPORTANT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827532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染色体坐标系统：一个容易出错的地方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1-based 闭区间 vs 0-based 半开区间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924" y="3313748"/>
            <a:ext cx="4757653" cy="186975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两种坐标约定的差异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4923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GFF / GTF 用 1-based，闭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区间（起点终点都包含）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5104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BED 用 0-based，半开区间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（含起点，不含终点）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同一个位置在两种格式里数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字不同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8605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格式转换时最容易出错的就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78605" y="43148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是这一步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97280" y="51530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建议：拿到文件先确认坐标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280" y="54006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约定，再动手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52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2960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ALIGNMENT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85216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比对：把读长放回基因组上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4771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RNA-seq 的比对工具必须考虑剪接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744" y="2495550"/>
            <a:ext cx="4672012" cy="3505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剪接感知比对示意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53812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RNA-seq 的读长可能跨越外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显子边界，需要考虑剪接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5435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常用工具：STAR 与 HISAT2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97280" y="4067175"/>
            <a:ext cx="20314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输出通常为 BAM 文件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078605" y="4067175"/>
            <a:ext cx="23942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BAM = SAM 的二进制编码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078605" y="4314825"/>
            <a:ext cx="21061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（常再经 BGZF 压缩）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97280" y="51530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比对质量直接决定后续定量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7280" y="54006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的可靠性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53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2864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SAM / BAM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46918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SAM 是文本，BAM 是它的二进制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286832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内容一致，BAM 更小也更快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3437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SAM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218" y="3041332"/>
            <a:ext cx="452177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Sequence Alignment / Map format，纯文本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5242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4504" y="3528060"/>
            <a:ext cx="3437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BAM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218" y="3746182"/>
            <a:ext cx="498058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SAM 的压缩二进制版本，带索引可快速随机访问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42291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4504" y="4232910"/>
            <a:ext cx="10802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为什么用 BAM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218" y="445103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体积小、访问快，绝大多数工具优先支持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461379" y="2823210"/>
            <a:ext cx="5772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Header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9093" y="3041332"/>
            <a:ext cx="47924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记录参考序列、程序版本等元信息，samtools vi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59093" y="3327082"/>
            <a:ext cx="114833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ew -H 查看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38875" y="38100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461379" y="3813810"/>
            <a:ext cx="15101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Alignment records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59093" y="4031932"/>
            <a:ext cx="425931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每条读长的比对结果，samtools view 查看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38875" y="45148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461379" y="45186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常用工具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59093" y="4736782"/>
            <a:ext cx="304874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samtools 提供一整套操作命令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82980" y="6067425"/>
            <a:ext cx="486331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几乎所有比对相关的操作，都围绕 SAM / BAM 展开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54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2864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SAM / BAM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26701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先看 Header：它规定后续所有行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0931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@ 开头，定义序列名与排序方式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28938"/>
            <a:ext cx="5067300" cy="279082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111290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Header 的 @ 行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12269"/>
            <a:ext cx="5067300" cy="2824162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19022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比对记录的 11 个必需字段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55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39628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SAM FIELDS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18049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11 个字段里，先记住这 6 个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88170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11 个必需字段，新手最需要记住这六个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724150"/>
            <a:ext cx="10668000" cy="428625"/>
          </a:xfrm>
          <a:prstGeom prst="roundRect">
            <a:avLst>
              <a:gd name="adj" fmla="val 17778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70204" y="28803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93595" y="28803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名称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48900" y="28803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59508" y="28803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为什么重要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3152775"/>
            <a:ext cx="10668000" cy="428625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70204" y="3299460"/>
            <a:ext cx="5498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QNAME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93595" y="32994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查询名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48900" y="3299460"/>
            <a:ext cx="7205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读长的 ID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59508" y="3299460"/>
            <a:ext cx="16422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定位原始 FASTQ 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0204" y="37280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FLAG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93595" y="37280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标志位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48900" y="3728085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比对的二进制状态编码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59508" y="3728085"/>
            <a:ext cx="24434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判断是否比对成功、是否为 read2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4010025"/>
            <a:ext cx="10668000" cy="428625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70204" y="4156710"/>
            <a:ext cx="515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RNAME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93595" y="4156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参考序列名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48900" y="41567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比对到哪条染色体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59508" y="41567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区分主要比对与多重映射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0204" y="4585335"/>
            <a:ext cx="3279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POS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493595" y="45853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位置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48900" y="4585335"/>
            <a:ext cx="22495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比对上的起始位置（1-based）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59508" y="458533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所有区间运算的基础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4857750"/>
            <a:ext cx="10668000" cy="428625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70204" y="5013960"/>
            <a:ext cx="4559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MAPQ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93595" y="5013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比对质量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48900" y="501396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比对唯一性的置信度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59508" y="5013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过滤多重映射读长的关键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0204" y="5442585"/>
            <a:ext cx="438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CIGAR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493595" y="54425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简要比对信息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48900" y="5442585"/>
            <a:ext cx="19991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匹配 / 插入 / 缺失的编码串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059508" y="5442585"/>
            <a:ext cx="27175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判断是否有剪接（N 表示跨内含子）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82980" y="6067425"/>
            <a:ext cx="54132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MAPQ 与 CIGAR 是新手最容易忽略、也最关键的两个字段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56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20959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7534B7"/>
                </a:solidFill>
                <a:latin typeface="+mn-lt"/>
                <a:ea typeface="+mn-ea"/>
                <a:cs typeface="+mn-cs"/>
              </a:rPr>
              <a:t>VCF / BCF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930237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变异的标准存法：VCF 文本，BCF 二进制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287555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同样是 Header + 记录的结构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3442335"/>
            <a:ext cx="4762500" cy="161163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8570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VCF 的结构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rgbClr val="A06CD5">
                <a:alpha val="25000"/>
              </a:srgb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4898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VCF：Variant Call Format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，纯文本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rgbClr val="A06CD5">
                <a:alpha val="25000"/>
              </a:srgb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4902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BCF：VCF 的二进制版本，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多数工具更倾向使用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rgbClr val="A06CD5">
                <a:alpha val="25000"/>
              </a:srgb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2500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也常用 bgzip 压缩的 VCF（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1802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.vcf.gz）配合索引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rgbClr val="A06CD5">
                <a:alpha val="25000"/>
              </a:srgb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8605" y="4067175"/>
            <a:ext cx="25224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Header 以 ## 开头，记录部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78605" y="43148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分每行一个变异位点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029200"/>
            <a:ext cx="2695575" cy="628650"/>
          </a:xfrm>
          <a:prstGeom prst="roundRect">
            <a:avLst>
              <a:gd name="adj" fmla="val 15152"/>
            </a:avLst>
          </a:prstGeom>
          <a:solidFill>
            <a:schemeClr val="lt1"/>
          </a:solidFill>
          <a:ln w="14288">
            <a:solidFill>
              <a:srgbClr val="A06CD5">
                <a:alpha val="25000"/>
              </a:srgbClr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5029200"/>
            <a:ext cx="47625" cy="6286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97280" y="5153025"/>
            <a:ext cx="18629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处理工具：bcftools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57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20959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7534B7"/>
                </a:solidFill>
                <a:latin typeface="+mn-lt"/>
                <a:ea typeface="+mn-ea"/>
                <a:cs typeface="+mn-cs"/>
              </a:rPr>
              <a:t>VCF / BCF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85216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八列固定信息，再看样本列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6595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## 开头是元信息，往下一行一个位点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88958"/>
            <a:ext cx="5067300" cy="247078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1027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VCF 记录字段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6286500" y="2800350"/>
            <a:ext cx="5067300" cy="2133600"/>
          </a:xfrm>
          <a:prstGeom prst="roundRect">
            <a:avLst>
              <a:gd name="adj" fmla="val 4464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6286500" y="2800350"/>
            <a:ext cx="5067300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6467475" y="291465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638925" y="291465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6810375" y="291465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947197" y="2880360"/>
            <a:ext cx="3364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VCF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51854" y="32042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7F9DC4"/>
                </a:solidFill>
                <a:latin typeface="Microsoft YaHei"/>
                <a:ea typeface="Microsoft YaHei"/>
                <a:cs typeface="Microsoft YaHei"/>
              </a:rPr>
              <a:t>① 固定八列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1473" y="3434239"/>
            <a:ext cx="354505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#CHROM POS ID REF ALT QUAL FILTER INFO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51473" y="3672364"/>
            <a:ext cx="33836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 xml:space="preserve">1   11874  rs13805  T   C  99.0   .  DP=14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51854" y="4061460"/>
            <a:ext cx="29138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7F9DC4"/>
                </a:solidFill>
                <a:latin typeface="Microsoft YaHei"/>
                <a:ea typeface="Microsoft YaHei"/>
                <a:cs typeface="Microsoft YaHei"/>
              </a:rPr>
              <a:t>② 第 9 列起：FORMAT 与每个样本一列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51473" y="4291489"/>
            <a:ext cx="333568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 xml:space="preserve">FORMAT    NA00001   NA00002   NA00003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51473" y="4529614"/>
            <a:ext cx="29260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8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 xml:space="preserve">GT:DP     0/0:14    0/1:11    1/1:9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04204" y="5394960"/>
            <a:ext cx="3255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FORMAT 声明这一行怎么读，样本列照着填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04204" y="60998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样本列：格式串 + 基因型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58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2049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TOOL · QUALIMAP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902179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RNA-seq 与 DNA-seq 看的不是同一张图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4592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同样叫覆盖度，一个沿基因组，一个沿转录本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2980" y="2981325"/>
            <a:ext cx="85464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DNA-seq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5680" y="2981325"/>
            <a:ext cx="85464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RNA-seq</a:t>
            </a:r>
          </a:p>
        </p:txBody>
      </p:sp>
      <p:sp>
        <p:nvSpPr>
          <p:cNvPr id="9" name="Rectangle 9"/>
          <p:cNvSpPr/>
          <p:nvPr/>
        </p:nvSpPr>
        <p:spPr>
          <a:xfrm>
            <a:off x="3352800" y="2952750"/>
            <a:ext cx="9525" cy="2762250"/>
          </a:xfrm>
          <a:prstGeom prst="rect">
            <a:avLst/>
          </a:prstGeom>
          <a:solidFill>
            <a:srgbClr val="CFD8E3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90600" y="3457575"/>
            <a:ext cx="76200" cy="76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75004" y="34137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覆盖沿染色体铺开</a:t>
            </a:r>
          </a:p>
        </p:txBody>
      </p:sp>
      <p:sp>
        <p:nvSpPr>
          <p:cNvPr id="12" name="Ellipse 12"/>
          <p:cNvSpPr/>
          <p:nvPr/>
        </p:nvSpPr>
        <p:spPr>
          <a:xfrm>
            <a:off x="990600" y="3838575"/>
            <a:ext cx="76200" cy="76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75004" y="37947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深度是否处处达标</a:t>
            </a:r>
          </a:p>
        </p:txBody>
      </p:sp>
      <p:sp>
        <p:nvSpPr>
          <p:cNvPr id="14" name="Ellipse 14"/>
          <p:cNvSpPr/>
          <p:nvPr/>
        </p:nvSpPr>
        <p:spPr>
          <a:xfrm>
            <a:off x="990600" y="4219575"/>
            <a:ext cx="76200" cy="76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75004" y="41757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缺口落在哪些区域</a:t>
            </a:r>
          </a:p>
        </p:txBody>
      </p:sp>
      <p:sp>
        <p:nvSpPr>
          <p:cNvPr id="16" name="Ellipse 16"/>
          <p:cNvSpPr/>
          <p:nvPr/>
        </p:nvSpPr>
        <p:spPr>
          <a:xfrm>
            <a:off x="990600" y="4600575"/>
            <a:ext cx="76200" cy="76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75004" y="45567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插入片段长度分布</a:t>
            </a:r>
          </a:p>
        </p:txBody>
      </p:sp>
      <p:sp>
        <p:nvSpPr>
          <p:cNvPr id="18" name="Ellipse 18"/>
          <p:cNvSpPr/>
          <p:nvPr/>
        </p:nvSpPr>
        <p:spPr>
          <a:xfrm>
            <a:off x="3543300" y="3457575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727704" y="34137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覆盖沿转录本铺开</a:t>
            </a:r>
          </a:p>
        </p:txBody>
      </p:sp>
      <p:sp>
        <p:nvSpPr>
          <p:cNvPr id="20" name="Ellipse 20"/>
          <p:cNvSpPr/>
          <p:nvPr/>
        </p:nvSpPr>
        <p:spPr>
          <a:xfrm>
            <a:off x="3543300" y="3838575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727704" y="3794760"/>
            <a:ext cx="1530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看 5' 与 3' 是否均衡</a:t>
            </a:r>
          </a:p>
        </p:txBody>
      </p:sp>
      <p:sp>
        <p:nvSpPr>
          <p:cNvPr id="22" name="Ellipse 22"/>
          <p:cNvSpPr/>
          <p:nvPr/>
        </p:nvSpPr>
        <p:spPr>
          <a:xfrm>
            <a:off x="3543300" y="4219575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727704" y="4175760"/>
            <a:ext cx="15387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meta-gene 是否对称</a:t>
            </a:r>
          </a:p>
        </p:txBody>
      </p:sp>
      <p:sp>
        <p:nvSpPr>
          <p:cNvPr id="24" name="Ellipse 24"/>
          <p:cNvSpPr/>
          <p:nvPr/>
        </p:nvSpPr>
        <p:spPr>
          <a:xfrm>
            <a:off x="3543300" y="4600575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727704" y="45567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丰度不同，深度天然不齐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5904" y="539496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指标清单不通用，报告模板也是两套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5904" y="60998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两套模式的关注点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602355"/>
            <a:ext cx="5067300" cy="144399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204204" y="53949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模式选错，报告就答非所问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04204" y="6099810"/>
            <a:ext cx="23627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官方特性：RNA-seq 有专门模式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59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2049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TOOL · QUALIMAP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833883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QualiMap 报告，先看这三张图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550865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覆盖度是否均匀、总体统计是否正常、GC 有没有偏移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62250"/>
            <a:ext cx="3429000" cy="2057400"/>
          </a:xfrm>
          <a:prstGeom prst="rect">
            <a:avLst/>
          </a:prstGeom>
        </p:spPr>
      </p:pic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762250"/>
            <a:ext cx="3429000" cy="2057400"/>
          </a:xfrm>
          <a:prstGeom prst="rect">
            <a:avLst/>
          </a:prstGeom>
        </p:spPr>
      </p:pic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762250"/>
            <a:ext cx="3429000" cy="2057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755904" y="50520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覆盖度分布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75404" y="5052060"/>
            <a:ext cx="14416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总体统计 Summary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94904" y="5052060"/>
            <a:ext cx="6044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GC 分布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531876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横向是否铺满、有没有成片的缺口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5404" y="5318760"/>
            <a:ext cx="24030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mapped 比例、配对比例、重复率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4904" y="531876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与理论分布比，是否整体偏移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2980" y="6067425"/>
            <a:ext cx="5871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三张图分别回答：覆盖够不够、数据干不干净、有没有系统性偏好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60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2913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TOOL · SAMTOOLS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901069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SAMtools / BCFtools：格式操作的基石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3486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几乎所有流程都会用到这两个工具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8" y="2724150"/>
            <a:ext cx="2371725" cy="3200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18873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SAMtools 操作 SAM/BAM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88030"/>
            <a:ext cx="5067300" cy="2071688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17868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BCFtools 操作 VCF/BCF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61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2529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7534B7"/>
                </a:solidFill>
                <a:latin typeface="+mn-lt"/>
                <a:ea typeface="+mn-ea"/>
                <a:cs typeface="+mn-cs"/>
              </a:rPr>
              <a:t>TOOL · BEDTOOLS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79319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BEDtools 把区间运算变成一行命令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交集、并集、补集、覆盖度，各一条命令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3400425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66160"/>
            <a:ext cx="3248025" cy="1515428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区间相交</a:t>
            </a:r>
          </a:p>
        </p:txBody>
      </p:sp>
      <p:sp>
        <p:nvSpPr>
          <p:cNvPr id="9" name="Rectangle 9"/>
          <p:cNvSpPr/>
          <p:nvPr/>
        </p:nvSpPr>
        <p:spPr>
          <a:xfrm>
            <a:off x="4391025" y="2647950"/>
            <a:ext cx="3400425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2836069"/>
            <a:ext cx="3248025" cy="2976562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384929" y="6099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区间合并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020050" y="2647950"/>
            <a:ext cx="3400425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212" y="2724150"/>
            <a:ext cx="2323148" cy="3200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013954" y="6099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覆盖度计算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62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3866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TOOL · IGV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09537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IGV 能打开什么，替代品有哪些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223799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眼睛是最快的质控工具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86050"/>
            <a:ext cx="5200650" cy="1438275"/>
          </a:xfrm>
          <a:prstGeom prst="roundRect">
            <a:avLst>
              <a:gd name="adj" fmla="val 794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686050"/>
            <a:ext cx="57150" cy="1438275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81837" y="2899886"/>
            <a:ext cx="1175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支持的格式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4504" y="3261360"/>
            <a:ext cx="4569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BAM、VCF、GTF、BED、bigWig 等几乎所有常见基因组格式。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229350" y="2686050"/>
            <a:ext cx="5200650" cy="1438275"/>
          </a:xfrm>
          <a:prstGeom prst="roundRect">
            <a:avLst>
              <a:gd name="adj" fmla="val 794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6229350" y="2686050"/>
            <a:ext cx="57150" cy="143827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449187" y="2899886"/>
            <a:ext cx="9437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典型用途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51854" y="326136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人工检查可疑位点、确认剪接事件、核对变异调用的可信度。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4391025"/>
            <a:ext cx="5200650" cy="1438275"/>
          </a:xfrm>
          <a:prstGeom prst="roundRect">
            <a:avLst>
              <a:gd name="adj" fmla="val 794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762000" y="4391025"/>
            <a:ext cx="57150" cy="143827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81837" y="4604861"/>
            <a:ext cx="1175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在线浏览器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4504" y="4966335"/>
            <a:ext cx="50210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Ensembl（ensembl.org）与 UCSC（genome.ucsc.edu）无需安装，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4504" y="51854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打开即用。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29350" y="4391025"/>
            <a:ext cx="5200650" cy="1438275"/>
          </a:xfrm>
          <a:prstGeom prst="roundRect">
            <a:avLst>
              <a:gd name="adj" fmla="val 794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229350" y="4391025"/>
            <a:ext cx="57150" cy="14382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449187" y="4604861"/>
            <a:ext cx="48061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51854" y="4966335"/>
            <a:ext cx="44500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任何自动分析给出可疑结果时，先用 IGV 看一眼原始比对。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82980" y="6067425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做生信要有「看一眼原始数据」的习惯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63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3866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TOOL · IGV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418429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用 IGV 看一条比对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58137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自动流程给数字，IGV 给形状；数字可疑时，回头看形状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86050"/>
            <a:ext cx="5200650" cy="1438275"/>
          </a:xfrm>
          <a:prstGeom prst="roundRect">
            <a:avLst>
              <a:gd name="adj" fmla="val 6623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2686050"/>
            <a:ext cx="47625" cy="1438275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04875" y="29051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97280" y="2847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载入什么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2980" y="3095625"/>
            <a:ext cx="285997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BAM 与它的 .bai 索引必须同时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980" y="33432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在位，缺一不可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29350" y="2686050"/>
            <a:ext cx="5200650" cy="1438275"/>
          </a:xfrm>
          <a:prstGeom prst="roundRect">
            <a:avLst>
              <a:gd name="adj" fmla="val 6623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29350" y="2686050"/>
            <a:ext cx="47625" cy="143827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6372225" y="290512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564630" y="28479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怎么跳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50330" y="3095625"/>
            <a:ext cx="293312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输入 chr:start-end，或直接搜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0330" y="33432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基因名跳过去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391025"/>
            <a:ext cx="5200650" cy="1438275"/>
          </a:xfrm>
          <a:prstGeom prst="roundRect">
            <a:avLst>
              <a:gd name="adj" fmla="val 6623"/>
            </a:avLst>
          </a:prstGeom>
          <a:solidFill>
            <a:schemeClr val="lt1"/>
          </a:solidFill>
          <a:ln w="14288">
            <a:solidFill>
              <a:srgbClr val="A06CD5">
                <a:alpha val="25000"/>
              </a:srgb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4391025"/>
            <a:ext cx="47625" cy="1438275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610100"/>
            <a:ext cx="95250" cy="952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552950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看什么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2980" y="480060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覆盖度是否均匀、错配是否成簇、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2980" y="5048250"/>
            <a:ext cx="21381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CIGAR 里的 N 就是剪接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29350" y="4391025"/>
            <a:ext cx="5200650" cy="1438275"/>
          </a:xfrm>
          <a:prstGeom prst="roundRect">
            <a:avLst>
              <a:gd name="adj" fmla="val 6623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29350" y="4391025"/>
            <a:ext cx="47625" cy="14382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6372225" y="4610100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564630" y="45529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与命令行的分工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50330" y="4800600"/>
            <a:ext cx="29576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samtools 给数字，IGV 给形状；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50330" y="504825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两者互相验证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82980" y="6067425"/>
            <a:ext cx="54673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自动流程的每一步，都要留一个能「看一眼原始数据」的出口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64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0858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小结：六种格式，一条数据流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1591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FASTA → FASTQ → GFF/BED → SAM → VCF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12398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FASTA / FASTQ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218" y="3041332"/>
            <a:ext cx="33486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序列与质量值，是所有分析的输入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5242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4504" y="3528060"/>
            <a:ext cx="8097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GFF / GTF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218" y="374618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注释，定义基因与特征的位置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42291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4504" y="4232910"/>
            <a:ext cx="3079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BED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218" y="4451032"/>
            <a:ext cx="367068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区间，注意 0-based 半开区间的约定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461379" y="2823210"/>
            <a:ext cx="8814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SAM / BAM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9093" y="3041332"/>
            <a:ext cx="33025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比对结果，注意 MAPQ 与 CIGAR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38875" y="35242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461379" y="3528060"/>
            <a:ext cx="8097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VCF / BCF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59093" y="3746182"/>
            <a:ext cx="290918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变异，注意 Header 与样本列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38875" y="42291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61379" y="42329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共同规律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59093" y="4451032"/>
            <a:ext cx="453466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只有 BAM / BCF 是二进制；文本便于阅读，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59093" y="4736782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二进制便于计算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5143500"/>
            <a:ext cx="10668000" cy="609600"/>
          </a:xfrm>
          <a:prstGeom prst="roundRect">
            <a:avLst>
              <a:gd name="adj" fmla="val 15625"/>
            </a:avLst>
          </a:prstGeom>
          <a:solidFill>
            <a:schemeClr val="lt1"/>
          </a:solidFill>
          <a:ln w="14288">
            <a:solidFill>
              <a:srgbClr val="A06CD5">
                <a:alpha val="35000"/>
              </a:srgbClr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62000" y="5143500"/>
            <a:ext cx="57150" cy="60960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82980" y="5362575"/>
            <a:ext cx="72588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rgbClr val="7534B7"/>
                </a:solidFill>
                <a:latin typeface="Microsoft YaHei"/>
                <a:ea typeface="Microsoft YaHei"/>
                <a:cs typeface="Microsoft YaHei"/>
              </a:rPr>
              <a:t>下一部分 · R 里的基因组数据</a:t>
            </a:r>
            <a:r>
              <a:rPr lang="zh-Hans-CN" sz="15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 xml:space="preserve"> —— 文件读完了，该让区间在 R 里成为一等公民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82980" y="6067425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格式不是记忆负担，而是数据流的关节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89296" y="65189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第四部分 · 六种文件格式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65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239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6811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5384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3956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2529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101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9674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8246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76819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85391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964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25366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1110912" y="27289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8239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6811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25384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33956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42529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1101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59674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68246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76819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85391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93964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1025366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11110912" y="33194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239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6811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25384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33956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42529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51101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59674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68246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76819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85391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93964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1025366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11110912" y="39100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8239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16811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25384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33956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42529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51101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59674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68246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76819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85391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93964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1025366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11110912" y="45005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8239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16811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25384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33956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8" name="Ellipse 58"/>
          <p:cNvSpPr/>
          <p:nvPr/>
        </p:nvSpPr>
        <p:spPr>
          <a:xfrm>
            <a:off x="42529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51101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0" name="Ellipse 60"/>
          <p:cNvSpPr/>
          <p:nvPr/>
        </p:nvSpPr>
        <p:spPr>
          <a:xfrm>
            <a:off x="59674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1" name="Ellipse 61"/>
          <p:cNvSpPr/>
          <p:nvPr/>
        </p:nvSpPr>
        <p:spPr>
          <a:xfrm>
            <a:off x="68246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2" name="Ellipse 62"/>
          <p:cNvSpPr/>
          <p:nvPr/>
        </p:nvSpPr>
        <p:spPr>
          <a:xfrm>
            <a:off x="76819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3" name="Ellipse 63"/>
          <p:cNvSpPr/>
          <p:nvPr/>
        </p:nvSpPr>
        <p:spPr>
          <a:xfrm>
            <a:off x="85391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93964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5" name="Ellipse 65"/>
          <p:cNvSpPr/>
          <p:nvPr/>
        </p:nvSpPr>
        <p:spPr>
          <a:xfrm>
            <a:off x="1025366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11110912" y="50911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7" name="Ellipse 67"/>
          <p:cNvSpPr/>
          <p:nvPr/>
        </p:nvSpPr>
        <p:spPr>
          <a:xfrm>
            <a:off x="8239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8" name="Ellipse 68"/>
          <p:cNvSpPr/>
          <p:nvPr/>
        </p:nvSpPr>
        <p:spPr>
          <a:xfrm>
            <a:off x="16811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69" name="Ellipse 69"/>
          <p:cNvSpPr/>
          <p:nvPr/>
        </p:nvSpPr>
        <p:spPr>
          <a:xfrm>
            <a:off x="25384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33956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42529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2" name="Ellipse 72"/>
          <p:cNvSpPr/>
          <p:nvPr/>
        </p:nvSpPr>
        <p:spPr>
          <a:xfrm>
            <a:off x="51101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3" name="Ellipse 73"/>
          <p:cNvSpPr/>
          <p:nvPr/>
        </p:nvSpPr>
        <p:spPr>
          <a:xfrm>
            <a:off x="59674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68246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5" name="Ellipse 75"/>
          <p:cNvSpPr/>
          <p:nvPr/>
        </p:nvSpPr>
        <p:spPr>
          <a:xfrm>
            <a:off x="76819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6" name="Ellipse 76"/>
          <p:cNvSpPr/>
          <p:nvPr/>
        </p:nvSpPr>
        <p:spPr>
          <a:xfrm>
            <a:off x="85391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7" name="Ellipse 77"/>
          <p:cNvSpPr/>
          <p:nvPr/>
        </p:nvSpPr>
        <p:spPr>
          <a:xfrm>
            <a:off x="93964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8" name="Ellipse 78"/>
          <p:cNvSpPr/>
          <p:nvPr/>
        </p:nvSpPr>
        <p:spPr>
          <a:xfrm>
            <a:off x="1025366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79" name="Ellipse 79"/>
          <p:cNvSpPr/>
          <p:nvPr/>
        </p:nvSpPr>
        <p:spPr>
          <a:xfrm>
            <a:off x="11110912" y="568166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0" name="Ellipse 80"/>
          <p:cNvSpPr/>
          <p:nvPr/>
        </p:nvSpPr>
        <p:spPr>
          <a:xfrm>
            <a:off x="8239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1" name="Ellipse 81"/>
          <p:cNvSpPr/>
          <p:nvPr/>
        </p:nvSpPr>
        <p:spPr>
          <a:xfrm>
            <a:off x="16811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2" name="Ellipse 82"/>
          <p:cNvSpPr/>
          <p:nvPr/>
        </p:nvSpPr>
        <p:spPr>
          <a:xfrm>
            <a:off x="25384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3" name="Ellipse 83"/>
          <p:cNvSpPr/>
          <p:nvPr/>
        </p:nvSpPr>
        <p:spPr>
          <a:xfrm>
            <a:off x="33956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4" name="Ellipse 84"/>
          <p:cNvSpPr/>
          <p:nvPr/>
        </p:nvSpPr>
        <p:spPr>
          <a:xfrm>
            <a:off x="42529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5" name="Ellipse 85"/>
          <p:cNvSpPr/>
          <p:nvPr/>
        </p:nvSpPr>
        <p:spPr>
          <a:xfrm>
            <a:off x="51101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6" name="Ellipse 86"/>
          <p:cNvSpPr/>
          <p:nvPr/>
        </p:nvSpPr>
        <p:spPr>
          <a:xfrm>
            <a:off x="59674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7" name="Ellipse 87"/>
          <p:cNvSpPr/>
          <p:nvPr/>
        </p:nvSpPr>
        <p:spPr>
          <a:xfrm>
            <a:off x="68246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8" name="Ellipse 88"/>
          <p:cNvSpPr/>
          <p:nvPr/>
        </p:nvSpPr>
        <p:spPr>
          <a:xfrm>
            <a:off x="76819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89" name="Ellipse 89"/>
          <p:cNvSpPr/>
          <p:nvPr/>
        </p:nvSpPr>
        <p:spPr>
          <a:xfrm>
            <a:off x="85391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0" name="Ellipse 90"/>
          <p:cNvSpPr/>
          <p:nvPr/>
        </p:nvSpPr>
        <p:spPr>
          <a:xfrm>
            <a:off x="93964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1" name="Ellipse 91"/>
          <p:cNvSpPr/>
          <p:nvPr/>
        </p:nvSpPr>
        <p:spPr>
          <a:xfrm>
            <a:off x="1025366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2" name="Ellipse 92"/>
          <p:cNvSpPr/>
          <p:nvPr/>
        </p:nvSpPr>
        <p:spPr>
          <a:xfrm>
            <a:off x="11110912" y="6272212"/>
            <a:ext cx="66675" cy="66675"/>
          </a:xfrm>
          <a:prstGeom prst="ellipse">
            <a:avLst/>
          </a:prstGeom>
          <a:solidFill>
            <a:schemeClr val="lt1">
              <a:alpha val="18000"/>
            </a:schemeClr>
          </a:solidFill>
          <a:ln>
            <a:noFill/>
          </a:ln>
        </p:spPr>
      </p:sp>
      <p:sp>
        <p:nvSpPr>
          <p:cNvPr id="93" name="Freeform 93"/>
          <p:cNvSpPr/>
          <p:nvPr/>
        </p:nvSpPr>
        <p:spPr>
          <a:xfrm>
            <a:off x="1714500" y="2952750"/>
            <a:ext cx="3810000" cy="2952750"/>
          </a:xfrm>
          <a:custGeom>
            <a:avLst/>
            <a:gdLst/>
            <a:ahLst/>
            <a:cxnLst/>
            <a:rect l="l" t="t" r="r" b="b"/>
            <a:pathLst>
              <a:path w="3810000" h="2952750">
                <a:moveTo>
                  <a:pt x="0" y="295275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rgbClr val="FFFFFF">
                <a:alpha val="45000"/>
              </a:srgbClr>
            </a:solidFill>
          </a:ln>
        </p:spPr>
      </p:sp>
      <p:sp>
        <p:nvSpPr>
          <p:cNvPr id="94" name="Freeform 94"/>
          <p:cNvSpPr/>
          <p:nvPr/>
        </p:nvSpPr>
        <p:spPr>
          <a:xfrm>
            <a:off x="3143250" y="2952750"/>
            <a:ext cx="3810000" cy="2952750"/>
          </a:xfrm>
          <a:custGeom>
            <a:avLst/>
            <a:gdLst/>
            <a:ahLst/>
            <a:cxnLst/>
            <a:rect l="l" t="t" r="r" b="b"/>
            <a:pathLst>
              <a:path w="3810000" h="2952750">
                <a:moveTo>
                  <a:pt x="0" y="295275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rgbClr val="FFFFFF">
                <a:alpha val="33000"/>
              </a:srgbClr>
            </a:solidFill>
          </a:ln>
        </p:spPr>
      </p:sp>
      <p:sp>
        <p:nvSpPr>
          <p:cNvPr id="95" name="Freeform 95"/>
          <p:cNvSpPr/>
          <p:nvPr/>
        </p:nvSpPr>
        <p:spPr>
          <a:xfrm>
            <a:off x="4572000" y="2952750"/>
            <a:ext cx="3810000" cy="2952750"/>
          </a:xfrm>
          <a:custGeom>
            <a:avLst/>
            <a:gdLst/>
            <a:ahLst/>
            <a:cxnLst/>
            <a:rect l="l" t="t" r="r" b="b"/>
            <a:pathLst>
              <a:path w="3810000" h="2952750">
                <a:moveTo>
                  <a:pt x="0" y="295275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rgbClr val="FFFFFF">
                <a:alpha val="21000"/>
              </a:srgbClr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755142" y="1073468"/>
            <a:ext cx="10250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75" dirty="0">
                <a:solidFill>
                  <a:srgbClr val="FFFFFF">
                    <a:alphaMod val="75000"/>
                  </a:srgbClr>
                </a:solidFill>
                <a:latin typeface="+mn-lt"/>
                <a:ea typeface="+mn-ea"/>
                <a:cs typeface="+mn-cs"/>
              </a:rPr>
              <a:t>PART 05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545117" y="990600"/>
            <a:ext cx="1903933" cy="2305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0" b="1" dirty="0">
                <a:solidFill>
                  <a:srgbClr val="FFFFFF">
                    <a:alphaMod val="16000"/>
                  </a:srgbClr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42950" y="1651635"/>
            <a:ext cx="6437086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5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 里的基因组数据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752094" y="2608898"/>
            <a:ext cx="414745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950" dirty="0">
                <a:solidFill>
                  <a:srgbClr val="FFFFFF">
                    <a:alphaMod val="82000"/>
                  </a:srgbClr>
                </a:solidFill>
                <a:latin typeface="Microsoft YaHei"/>
                <a:ea typeface="Microsoft YaHei"/>
                <a:cs typeface="Microsoft YaHei"/>
              </a:rPr>
              <a:t>Bioconductor 把区间变成一等公民</a:t>
            </a:r>
          </a:p>
        </p:txBody>
      </p:sp>
      <p:sp>
        <p:nvSpPr>
          <p:cNvPr id="100" name="Line 100"/>
          <p:cNvSpPr/>
          <p:nvPr/>
        </p:nvSpPr>
        <p:spPr>
          <a:xfrm>
            <a:off x="762000" y="32766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</p:sp>
      <p:sp>
        <p:nvSpPr>
          <p:cNvPr id="101" name="Ellipse 101"/>
          <p:cNvSpPr/>
          <p:nvPr/>
        </p:nvSpPr>
        <p:spPr>
          <a:xfrm>
            <a:off x="814388" y="37480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02" name="TextBox 102"/>
          <p:cNvSpPr txBox="1"/>
          <p:nvPr/>
        </p:nvSpPr>
        <p:spPr>
          <a:xfrm>
            <a:off x="1059180" y="3686175"/>
            <a:ext cx="2395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IRanges：区间的基础设施</a:t>
            </a:r>
          </a:p>
        </p:txBody>
      </p:sp>
      <p:sp>
        <p:nvSpPr>
          <p:cNvPr id="103" name="Ellipse 103"/>
          <p:cNvSpPr/>
          <p:nvPr/>
        </p:nvSpPr>
        <p:spPr>
          <a:xfrm>
            <a:off x="814388" y="41671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04" name="TextBox 104"/>
          <p:cNvSpPr txBox="1"/>
          <p:nvPr/>
        </p:nvSpPr>
        <p:spPr>
          <a:xfrm>
            <a:off x="1059180" y="4105275"/>
            <a:ext cx="28572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GRanges：带基因组信息的区间</a:t>
            </a:r>
          </a:p>
        </p:txBody>
      </p:sp>
      <p:sp>
        <p:nvSpPr>
          <p:cNvPr id="105" name="Ellipse 105"/>
          <p:cNvSpPr/>
          <p:nvPr/>
        </p:nvSpPr>
        <p:spPr>
          <a:xfrm>
            <a:off x="814388" y="45862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06" name="TextBox 106"/>
          <p:cNvSpPr txBox="1"/>
          <p:nvPr/>
        </p:nvSpPr>
        <p:spPr>
          <a:xfrm>
            <a:off x="1059180" y="4524375"/>
            <a:ext cx="28448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GRangesList：分组的区间集合</a:t>
            </a:r>
          </a:p>
        </p:txBody>
      </p:sp>
      <p:sp>
        <p:nvSpPr>
          <p:cNvPr id="107" name="Ellipse 107"/>
          <p:cNvSpPr/>
          <p:nvPr/>
        </p:nvSpPr>
        <p:spPr>
          <a:xfrm>
            <a:off x="814388" y="50053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08" name="TextBox 108"/>
          <p:cNvSpPr txBox="1"/>
          <p:nvPr/>
        </p:nvSpPr>
        <p:spPr>
          <a:xfrm>
            <a:off x="1059180" y="4943475"/>
            <a:ext cx="17234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Coverage：覆盖度</a:t>
            </a:r>
          </a:p>
        </p:txBody>
      </p:sp>
      <p:sp>
        <p:nvSpPr>
          <p:cNvPr id="109" name="Ellipse 109"/>
          <p:cNvSpPr/>
          <p:nvPr/>
        </p:nvSpPr>
        <p:spPr>
          <a:xfrm>
            <a:off x="814388" y="54244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10" name="TextBox 110"/>
          <p:cNvSpPr txBox="1"/>
          <p:nvPr/>
        </p:nvSpPr>
        <p:spPr>
          <a:xfrm>
            <a:off x="1059180" y="536257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基因定量与标准化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9FB0C4"/>
                </a:solidFill>
                <a:latin typeface="+mn-lt"/>
                <a:ea typeface="+mn-ea"/>
                <a:cs typeface="+mn-cs"/>
              </a:rPr>
              <a:t>66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9990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INFRASTRUCTURE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85216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三个包撑起基因组区间计算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0909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IRanges 管区间，GRanges 管基因组坐标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设计目标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218" y="3041332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表示与计算带注释的基因组区间，并把基因组数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2218" y="3327082"/>
            <a:ext cx="239892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据与 R 的统计能力结合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38100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84504" y="3813810"/>
            <a:ext cx="6327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IRanges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2218" y="403193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表示序列上的区间，以及区间相关的数据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45148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84504" y="4518660"/>
            <a:ext cx="12269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GenomicRanges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2218" y="4736782"/>
            <a:ext cx="33486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在区间上加入染色体与链方向信息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61379" y="2823210"/>
            <a:ext cx="14135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GenomicFeatures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59093" y="3041332"/>
            <a:ext cx="33486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从注释文件构建转录本与基因模型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38875" y="352425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461379" y="35280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关键能力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59093" y="3746182"/>
            <a:ext cx="44592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区间重叠、并集、补集等操作都可扩展且高效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38875" y="42291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461379" y="42329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为什么重要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59093" y="4451032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有了统一表示，不同来源的基因组数据才能放在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59093" y="4736782"/>
            <a:ext cx="68313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一起算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82980" y="6067425"/>
            <a:ext cx="36499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统一的数据结构，是让分析可组合的前提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67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961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IRANGES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837869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IRanges：只有起点与宽度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它不知道染色体，也不知道链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3618548"/>
            <a:ext cx="4762500" cy="125920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5321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IRanges 与 RLE 压缩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表示序列上的区间以及区间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322897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相关的数据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78605" y="2981325"/>
            <a:ext cx="25595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内部使用 run-length encod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3228975"/>
            <a:ext cx="189442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ing（RLE）提升性能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7280" y="4067175"/>
            <a:ext cx="26302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例：序列 {1, 1, 1, 2, 3, 3}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280" y="43148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可表示为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8605" y="4067175"/>
            <a:ext cx="229704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values = {1, 2, 3}，run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78605" y="4314825"/>
            <a:ext cx="18729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lengths = {3, 1, 2}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97280" y="5153025"/>
            <a:ext cx="25648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RLE 让重复度高的数据占用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280" y="54006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极小空间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68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961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IRANGES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894781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三个属性之外，IRanges 还能做集合运算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28197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start / end / width 与集合运算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98482"/>
            <a:ext cx="5067300" cy="2450782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区间的基本属性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120390"/>
            <a:ext cx="5067300" cy="2406968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区间运算示例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69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5061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IRANGESLIST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82550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IRangesList：一个对象装多组区间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0570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一个名字对应一组 IRanges，按名字取用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60490"/>
            <a:ext cx="4762500" cy="264197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55904" y="5699760"/>
            <a:ext cx="44256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IRangesList 的控制台输出：$one 三个区间、$two 四个区间</a:t>
            </a:r>
          </a:p>
        </p:txBody>
      </p:sp>
      <p:sp>
        <p:nvSpPr>
          <p:cNvPr id="8" name="Rectangle 8"/>
          <p:cNvSpPr/>
          <p:nvPr/>
        </p:nvSpPr>
        <p:spPr>
          <a:xfrm>
            <a:off x="5905500" y="2857500"/>
            <a:ext cx="5524500" cy="838200"/>
          </a:xfrm>
          <a:prstGeom prst="roundRect">
            <a:avLst>
              <a:gd name="adj" fmla="val 11364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905500" y="2857500"/>
            <a:ext cx="47625" cy="838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6048375" y="30765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240780" y="3019425"/>
            <a:ext cx="21859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$one / $two：命名分组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26480" y="3267075"/>
            <a:ext cx="32778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按名字取用，元素本身仍是 IRanges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905500" y="3848100"/>
            <a:ext cx="5524500" cy="838200"/>
          </a:xfrm>
          <a:prstGeom prst="roundRect">
            <a:avLst>
              <a:gd name="adj" fmla="val 11364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905500" y="3848100"/>
            <a:ext cx="47625" cy="838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6048375" y="40671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240780" y="401002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为什么需要分组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26480" y="4257675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一个基因的多个外显子，本来就不是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26480" y="45053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一个区间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905500" y="4838700"/>
            <a:ext cx="5524500" cy="838200"/>
          </a:xfrm>
          <a:prstGeom prst="roundRect">
            <a:avLst>
              <a:gd name="adj" fmla="val 11364"/>
            </a:avLst>
          </a:prstGeom>
          <a:solidFill>
            <a:schemeClr val="lt1"/>
          </a:solidFill>
          <a:ln w="14288">
            <a:solidFill>
              <a:srgbClr val="A06CD5">
                <a:alpha val="25000"/>
              </a:srgbClr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905500" y="4838700"/>
            <a:ext cx="47625" cy="83820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6048375" y="5057775"/>
            <a:ext cx="95250" cy="952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240780" y="50006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常用操作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26480" y="5248275"/>
            <a:ext cx="2842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长度用 lengths()，逐个映射用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26480" y="5495925"/>
            <a:ext cx="22061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lapply() / endoapply()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82980" y="60674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区间有了分组，才能表达「一个基因的多个片段」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70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0090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GRANGES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95208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GRanges：单区间的基因组特征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74843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在区间之上加上 seqnames 与 strand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99435"/>
            <a:ext cx="5067300" cy="2450782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11859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GRanges 的结构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355" y="2724150"/>
            <a:ext cx="3578542" cy="3200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基因组区间的表示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71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5541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GRANGESLIST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860181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一个基因多个外显子，用 GRangesList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分组结构保留区间之间的关系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13760"/>
            <a:ext cx="5067300" cy="1822132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外显子列表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080385"/>
            <a:ext cx="5067300" cy="2486978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转录本结构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72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5925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GALIGNMENTS</a:t>
            </a:r>
          </a:p>
        </p:txBody>
      </p:sp>
      <p:sp>
        <p:nvSpPr>
          <p:cNvPr id="4" name="Rectangle 4"/>
          <p:cNvSpPr/>
          <p:nvPr/>
        </p:nvSpPr>
        <p:spPr>
          <a:xfrm>
            <a:off x="9328785" y="723900"/>
            <a:ext cx="2101215" cy="285750"/>
          </a:xfrm>
          <a:prstGeom prst="roundRect">
            <a:avLst>
              <a:gd name="adj" fmla="val 50000"/>
            </a:avLst>
          </a:prstGeom>
          <a:solidFill>
            <a:schemeClr val="accent6">
              <a:alpha val="12000"/>
            </a:scheme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484614" y="794385"/>
            <a:ext cx="18714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读进 R，它就是一个区间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3712" y="1211580"/>
            <a:ext cx="719267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读进 R 的第一步：GappedReads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618" y="1841182"/>
            <a:ext cx="102070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ShortRead 的类：seqnames、strand、cigar 都在；GAlignments 是 GenomicAlignments 的同类对象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19505"/>
            <a:ext cx="5067300" cy="280969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55904" y="6099810"/>
            <a:ext cx="22765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readGappedReads() 读入 BAM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2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610" y="2724150"/>
            <a:ext cx="4069080" cy="3200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204204" y="6099810"/>
            <a:ext cx="24358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GappedReads 对象：3271 条比对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73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44429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TO GRANGES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转成区间，是为了做区间运算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583523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as(aln1, "GRanges")：坐标没有变，语义与可用接口变了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04875" y="30765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97280" y="3019425"/>
            <a:ext cx="22695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比对结果是 GAlignments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2980" y="3267075"/>
            <a:ext cx="18928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序列 + 坐标 + CIGAR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3886200" y="30765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078605" y="30194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转成纯区间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64305" y="32670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只保留坐标与链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rgbClr val="A06CD5">
                <a:alpha val="25000"/>
              </a:srgbClr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904875" y="4162425"/>
            <a:ext cx="95250" cy="952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97280" y="41052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转换不丢信息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2980" y="43529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坐标不变，换了接口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2">
                <a:alpha val="25000"/>
              </a:schemeClr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3886200" y="416242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078605" y="410527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转过去才好做区间运算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64305" y="4352925"/>
            <a:ext cx="236867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findOverlaps 要对区间做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904875" y="52482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97280" y="51911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要序列就回头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2980" y="5438775"/>
            <a:ext cx="30236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比对质量与 CIGAR 只在原对象里</a:t>
            </a:r>
          </a:p>
        </p:txBody>
      </p:sp>
      <p:pic>
        <p:nvPicPr>
          <p:cNvPr id="31" name="Imag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552" y="2952750"/>
            <a:ext cx="4750396" cy="291465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6509004" y="6233160"/>
            <a:ext cx="51376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gr1 &lt;- as(aln1, "GRanges")：3271 个区间，带 seqnames 与 strand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74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5061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GRANGES API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79068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区间有没有重叠，一句话就能问出来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4932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findOverlaps / subsetByOverlaps / mcols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21781"/>
            <a:ext cx="5067300" cy="3005138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区间查询接口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422" y="2724150"/>
            <a:ext cx="3260408" cy="3200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元数据与元列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75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1957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7534B7"/>
                </a:solidFill>
                <a:latin typeface="+mn-lt"/>
                <a:ea typeface="+mn-ea"/>
                <a:cs typeface="+mn-cs"/>
              </a:rPr>
              <a:t>COVERAGE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82142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覆盖度：每个位置被读了多少次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定量与变异检测都建立在覆盖度之上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956" y="2724150"/>
            <a:ext cx="4625788" cy="3200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覆盖度曲线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067175"/>
            <a:ext cx="5067300" cy="5143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区域覆盖统计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76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95102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PREPARING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47450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从 BAM 到表达矩阵，三步走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27488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读入比对 → 匹配注释 → 计数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3024188"/>
            <a:ext cx="4762500" cy="2446972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509004" y="6233160"/>
            <a:ext cx="13660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RNA-seq 定量流程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04875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7280" y="2981325"/>
            <a:ext cx="24582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输入：比对好的 BAM 文件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743325" y="28575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743325" y="28575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3886200" y="30384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78605" y="29813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参考：与比对时一致的注释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78605" y="3228975"/>
            <a:ext cx="122072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文件（GTF）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904875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97280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过程：统计落在每个基因上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7280" y="43148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的读长数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743325" y="394335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3743325" y="394335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3886200" y="41243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078605" y="40671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输出：行为基因、列为样本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78605" y="4314825"/>
            <a:ext cx="13984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的 count table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5029200"/>
            <a:ext cx="2695575" cy="876300"/>
          </a:xfrm>
          <a:prstGeom prst="roundRect">
            <a:avLst>
              <a:gd name="adj" fmla="val 10870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5029200"/>
            <a:ext cx="47625" cy="876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904875" y="52101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7280" y="5153025"/>
            <a:ext cx="32906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常用计数：featureCounts；另一条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7280" y="5400675"/>
            <a:ext cx="30744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路线是转录本伪定量，第 4 讲展开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77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95102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PREPARING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85216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定量之前，先把参考准备对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62362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参考、注释、链特异性三者必须一致；错了，后面的数都不作数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57500"/>
            <a:ext cx="6096000" cy="838200"/>
          </a:xfrm>
          <a:prstGeom prst="roundRect">
            <a:avLst>
              <a:gd name="adj" fmla="val 11364"/>
            </a:avLst>
          </a:prstGeom>
          <a:solidFill>
            <a:schemeClr val="lt1"/>
          </a:solidFill>
          <a:ln w="14288">
            <a:solidFill>
              <a:schemeClr val="accent6">
                <a:alpha val="25000"/>
              </a:schemeClr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2857500"/>
            <a:ext cx="47625" cy="838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04875" y="30765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97280" y="30194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参考基因组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2980" y="3267075"/>
            <a:ext cx="37200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与比对时用的是同一版本（如 GRCh38）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3848100"/>
            <a:ext cx="6096000" cy="838200"/>
          </a:xfrm>
          <a:prstGeom prst="roundRect">
            <a:avLst>
              <a:gd name="adj" fmla="val 11364"/>
            </a:avLst>
          </a:prstGeom>
          <a:solidFill>
            <a:schemeClr val="lt1"/>
          </a:solidFill>
          <a:ln w="14288">
            <a:solidFill>
              <a:schemeClr val="accent5">
                <a:alpha val="25000"/>
              </a:schemeClr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62000" y="3848100"/>
            <a:ext cx="47625" cy="838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904875" y="4067175"/>
            <a:ext cx="95250" cy="952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97280" y="40100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注释文件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2980" y="4257675"/>
            <a:ext cx="35890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GTF / GFF 与参考版本严格对应，否则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2980" y="45053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坐标对不上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4838700"/>
            <a:ext cx="6096000" cy="838200"/>
          </a:xfrm>
          <a:prstGeom prst="roundRect">
            <a:avLst>
              <a:gd name="adj" fmla="val 11364"/>
            </a:avLst>
          </a:prstGeom>
          <a:solidFill>
            <a:schemeClr val="lt1"/>
          </a:solidFill>
          <a:ln w="14288">
            <a:solidFill>
              <a:srgbClr val="A06CD5">
                <a:alpha val="25000"/>
              </a:srgbClr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4838700"/>
            <a:ext cx="47625" cy="83820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904875" y="5057775"/>
            <a:ext cx="95250" cy="952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97280" y="50006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链特异性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2980" y="5248275"/>
            <a:ext cx="302399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建库方案决定定量参数（-s yes /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2980" y="5495925"/>
            <a:ext cx="144894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reverse / no）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762" y="2819400"/>
            <a:ext cx="4181475" cy="310515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7080504" y="6080760"/>
            <a:ext cx="40588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reads 比对回参考后，按注释统计落在每个基因上的数目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78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9179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NORMALIZATION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934272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定量标准化：为什么不能直接用原始 count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测序深度和基因长度都会影响原始计数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4423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RPKM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4504" y="3089910"/>
            <a:ext cx="45712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Reads Per Kilobase per Million mapped reads，用于单端测序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405188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4504" y="3408998"/>
            <a:ext cx="4423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FPKM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504" y="3675698"/>
            <a:ext cx="47959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Fragments Per Kilobase per Million mapped reads，用于双端测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4504" y="3904298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序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4218622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84504" y="4222432"/>
            <a:ext cx="3437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TPM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4504" y="4489132"/>
            <a:ext cx="4518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Transcripts Per Million：先算每个转录本的 count/length，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4504" y="4717732"/>
            <a:ext cx="31542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再除以该样本所有 count/length 之和 ×10⁶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461379" y="2823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共同目的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1379" y="30899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消除测序深度与基因长度带来的偏差，让样本之间可比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38875" y="3405188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461379" y="3408998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关键区别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61379" y="3675698"/>
            <a:ext cx="42452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RPKM/FPKM 先归一化深度再归一化长度；TPM 顺序相反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38875" y="3990022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461379" y="3993832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为什么重要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61379" y="4260532"/>
            <a:ext cx="49632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顺序不同导致 TPM 的样本内总和恒为 1e6；样本间只比同一个基因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82980" y="6067425"/>
            <a:ext cx="76990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RPKM 用于单端、FPKM 用于双端；样本间比同一基因用 TPM，差异分析用 counts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79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58297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RPKM / FPKM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8657173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先深度再长度，RPKM 的三步不能颠倒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先深度，再长度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57500"/>
            <a:ext cx="6286500" cy="2952750"/>
          </a:xfrm>
          <a:prstGeom prst="roundRect">
            <a:avLst>
              <a:gd name="adj" fmla="val 3226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857500"/>
            <a:ext cx="6286500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42975" y="297180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114425" y="297180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285875" y="297180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777076" y="2937510"/>
            <a:ext cx="1060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404" y="335661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第 1 步：算「每百万」缩放因子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404" y="3554730"/>
            <a:ext cx="28069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total &lt;- sum(counts[, 'sample1'])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404" y="3752850"/>
            <a:ext cx="21688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scale_factor &lt;- total / 1e6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404" y="4149090"/>
            <a:ext cx="31101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第 2 步：用缩放因子归一化，得到 RPM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404" y="4347210"/>
            <a:ext cx="34369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rpm &lt;- counts[, 'sample1'] / scale_factor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6404" y="4743450"/>
            <a:ext cx="29361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第 3 步：再除以基因长度（单位：kb）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6404" y="4941570"/>
            <a:ext cx="27019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gene_len_kb &lt;- gene_len_bp / 1000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404" y="5139690"/>
            <a:ext cx="20961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rpkm &lt;- rpm / gene_len_kb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6404" y="5535930"/>
            <a:ext cx="35710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注意：先深度后长度，这是 RPKM 的定义顺序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353300" y="27813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556754" y="2785110"/>
            <a:ext cx="33655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双端测序用 FPKM，把 reads 换成 fragments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353300" y="320992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56754" y="3213735"/>
            <a:ext cx="26834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RPKM/FPKM 的样本间总和并不一致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353300" y="363855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556754" y="364236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所以不适合直接做样本间的整体比较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353300" y="406717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556754" y="4070985"/>
            <a:ext cx="27598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做差异表达分析时，通常用 DESeq2 /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6754" y="4290060"/>
            <a:ext cx="18642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edgeR 的原始 count 模型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82980" y="6067425"/>
            <a:ext cx="42472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RPKM 的局限不在公式，而在它的归一化顺序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80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4543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TPM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836145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先长度再深度，TPM 的三步正好相反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先长度，再深度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57500"/>
            <a:ext cx="6286500" cy="2952750"/>
          </a:xfrm>
          <a:prstGeom prst="roundRect">
            <a:avLst>
              <a:gd name="adj" fmla="val 3226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857500"/>
            <a:ext cx="6286500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42975" y="297180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114425" y="297180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285875" y="297180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777076" y="2937510"/>
            <a:ext cx="1060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404" y="3356610"/>
            <a:ext cx="24515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第 1 步：先除以基因长度（kb）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404" y="3554730"/>
            <a:ext cx="27019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gene_len_kb &lt;- gene_len_bp / 1000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404" y="375285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rate &lt;- counts[, 'sample1'] / gene_len_kb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404" y="4149090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第 2 步：求和，得到长度校正后的总量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404" y="4347210"/>
            <a:ext cx="1966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total_rate &lt;- sum(rate)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6404" y="4743450"/>
            <a:ext cx="27234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第 3 步：归一化到 1e6，得到 TPM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6404" y="4941570"/>
            <a:ext cx="24272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tpm &lt;- rate / total_rate * 1e6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404" y="5337810"/>
            <a:ext cx="40607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注意：分母是 Σ(count/length)，不含 mapped reads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562850" y="27813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66304" y="2785110"/>
            <a:ext cx="23221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TPM = Transcripts Per Million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562850" y="320992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766304" y="3213735"/>
            <a:ext cx="28200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分母是长度校正后的 Σ(count/length)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562850" y="363855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66304" y="3642360"/>
            <a:ext cx="37843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样本内 TPM 总和恒为 1e6，样本间可比同一个基因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562850" y="406717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766304" y="4070985"/>
            <a:ext cx="26493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同一样本内不同基因的 TPM 不可比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6754" y="4928235"/>
            <a:ext cx="3419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差异分析回到原始 counts（DESeq2 / edgeR）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82980" y="6067425"/>
            <a:ext cx="50634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顺序反过来，样本间就可比了；但跨基因比较仍然不成立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81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1573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STRATEGY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191607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RNA-seq 这条链，一步都省不掉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62695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从原始数据到生物学结论的完整链条（方法细节在第 4 讲展开）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03308"/>
            <a:ext cx="5067300" cy="144208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55904" y="6099810"/>
            <a:ext cx="13660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RNA-seq 分析流程</a:t>
            </a:r>
          </a:p>
        </p:txBody>
      </p:sp>
      <p:sp>
        <p:nvSpPr>
          <p:cNvPr id="9" name="Rectangle 9"/>
          <p:cNvSpPr/>
          <p:nvPr/>
        </p:nvSpPr>
        <p:spPr>
          <a:xfrm>
            <a:off x="6210300" y="2647950"/>
            <a:ext cx="5219700" cy="3352800"/>
          </a:xfrm>
          <a:prstGeom prst="roundRect">
            <a:avLst>
              <a:gd name="adj" fmla="val 2841"/>
            </a:avLst>
          </a:prstGeom>
          <a:solidFill>
            <a:srgbClr val="F4F6F9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48915"/>
            <a:ext cx="5067300" cy="3149918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04204" y="60998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从质控到差异表达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82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246308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7534B7"/>
                </a:solidFill>
                <a:latin typeface="+mn-lt"/>
                <a:ea typeface="+mn-ea"/>
                <a:cs typeface="+mn-cs"/>
              </a:rPr>
              <a:t>RESOLUTION CHOICE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43227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Bulk、单细胞、空间：三个分辨率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67359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分辨率越高，不等于问题越容易；本讲只留选择轴，方法见第 4–6 讲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724150"/>
            <a:ext cx="3295650" cy="2781300"/>
          </a:xfrm>
          <a:prstGeom prst="roundRect">
            <a:avLst>
              <a:gd name="adj" fmla="val 411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724150"/>
            <a:ext cx="76200" cy="27813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58037" y="2976086"/>
            <a:ext cx="153415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Bulk RNA-seq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9180" y="34004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一个样本的平均表达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9942" y="379761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优点：统计稳定、成本低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9942" y="417861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看不见：细胞异质性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0704" y="4785360"/>
            <a:ext cx="15630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输出：gene × sample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448175" y="2724150"/>
            <a:ext cx="3295650" cy="2781300"/>
          </a:xfrm>
          <a:prstGeom prst="roundRect">
            <a:avLst>
              <a:gd name="adj" fmla="val 411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448175" y="2724150"/>
            <a:ext cx="76200" cy="2781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44212" y="2976086"/>
            <a:ext cx="176934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单细胞 RNA-seq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45355" y="340042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每个细胞的状态与组成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46117" y="379761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优点：发现稀有细胞群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46117" y="4178618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代价：稀疏、双细胞、批次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46879" y="4785360"/>
            <a:ext cx="13126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输出：gene × cell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134350" y="2724150"/>
            <a:ext cx="3295650" cy="2781300"/>
          </a:xfrm>
          <a:prstGeom prst="roundRect">
            <a:avLst>
              <a:gd name="adj" fmla="val 411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134350" y="2724150"/>
            <a:ext cx="76200" cy="278130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30387" y="2976086"/>
            <a:ext cx="122330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空间 / 原位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31530" y="34004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表达量加上组织坐标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32292" y="379761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优点：保留组织上下文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32292" y="4178618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代价：分辨率、覆盖、成本权衡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33054" y="4785360"/>
            <a:ext cx="17084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输出：gene × spot/bin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82980" y="60674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先问样本与空间是否重要，再决定观察单位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04443" y="6233160"/>
            <a:ext cx="26314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参考：Ståhl et al. (2016) Science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83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0858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730605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小结：从比对到表达矩阵的流水线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92612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读入 → 转换 → 区间运算 → 定量 → 标准化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3429000"/>
            <a:ext cx="2019300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3429000"/>
            <a:ext cx="2019300" cy="571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866775" y="3667125"/>
            <a:ext cx="323850" cy="3238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72467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7587" y="3699986"/>
            <a:ext cx="48061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读入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7354" y="4080510"/>
            <a:ext cx="14542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BAM → GAlignments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2800350" y="4152900"/>
            <a:ext cx="95250" cy="171450"/>
          </a:xfrm>
          <a:custGeom>
            <a:avLst/>
            <a:gdLst/>
            <a:ahLst/>
            <a:cxnLst/>
            <a:rect l="l" t="t" r="r" b="b"/>
            <a:pathLst>
              <a:path w="95250" h="171450">
                <a:moveTo>
                  <a:pt x="0" y="0"/>
                </a:moveTo>
                <a:lnTo>
                  <a:pt x="952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CFD8E3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914650" y="3429000"/>
            <a:ext cx="2019300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2914650" y="3429000"/>
            <a:ext cx="2019300" cy="571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019425" y="3667125"/>
            <a:ext cx="323850" cy="3238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125117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20237" y="3699986"/>
            <a:ext cx="48061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转换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80004" y="4080510"/>
            <a:ext cx="7837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→ GRanges</a:t>
            </a:r>
          </a:p>
        </p:txBody>
      </p:sp>
      <p:sp>
        <p:nvSpPr>
          <p:cNvPr id="19" name="Freeform 19"/>
          <p:cNvSpPr/>
          <p:nvPr/>
        </p:nvSpPr>
        <p:spPr>
          <a:xfrm>
            <a:off x="4953000" y="4152900"/>
            <a:ext cx="95250" cy="171450"/>
          </a:xfrm>
          <a:custGeom>
            <a:avLst/>
            <a:gdLst/>
            <a:ahLst/>
            <a:cxnLst/>
            <a:rect l="l" t="t" r="r" b="b"/>
            <a:pathLst>
              <a:path w="95250" h="171450">
                <a:moveTo>
                  <a:pt x="0" y="0"/>
                </a:moveTo>
                <a:lnTo>
                  <a:pt x="952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CFD8E3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067300" y="3429000"/>
            <a:ext cx="2019300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067300" y="3429000"/>
            <a:ext cx="2019300" cy="571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5172075" y="3667125"/>
            <a:ext cx="323850" cy="3238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277767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72887" y="3699986"/>
            <a:ext cx="9437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区间运算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32654" y="40805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与注释求重叠</a:t>
            </a:r>
          </a:p>
        </p:txBody>
      </p:sp>
      <p:sp>
        <p:nvSpPr>
          <p:cNvPr id="26" name="Freeform 26"/>
          <p:cNvSpPr/>
          <p:nvPr/>
        </p:nvSpPr>
        <p:spPr>
          <a:xfrm>
            <a:off x="7105650" y="4152900"/>
            <a:ext cx="95250" cy="171450"/>
          </a:xfrm>
          <a:custGeom>
            <a:avLst/>
            <a:gdLst/>
            <a:ahLst/>
            <a:cxnLst/>
            <a:rect l="l" t="t" r="r" b="b"/>
            <a:pathLst>
              <a:path w="95250" h="171450">
                <a:moveTo>
                  <a:pt x="0" y="0"/>
                </a:moveTo>
                <a:lnTo>
                  <a:pt x="952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CFD8E3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219950" y="3429000"/>
            <a:ext cx="2019300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7219950" y="3429000"/>
            <a:ext cx="2019300" cy="571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7324725" y="3667125"/>
            <a:ext cx="323850" cy="3238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430417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5537" y="3699986"/>
            <a:ext cx="48061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定量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85304" y="4080510"/>
            <a:ext cx="9087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count table</a:t>
            </a:r>
          </a:p>
        </p:txBody>
      </p:sp>
      <p:sp>
        <p:nvSpPr>
          <p:cNvPr id="33" name="Freeform 33"/>
          <p:cNvSpPr/>
          <p:nvPr/>
        </p:nvSpPr>
        <p:spPr>
          <a:xfrm>
            <a:off x="9258300" y="4152900"/>
            <a:ext cx="95250" cy="171450"/>
          </a:xfrm>
          <a:custGeom>
            <a:avLst/>
            <a:gdLst/>
            <a:ahLst/>
            <a:cxnLst/>
            <a:rect l="l" t="t" r="r" b="b"/>
            <a:pathLst>
              <a:path w="95250" h="171450">
                <a:moveTo>
                  <a:pt x="0" y="0"/>
                </a:moveTo>
                <a:lnTo>
                  <a:pt x="952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CFD8E3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9372600" y="3429000"/>
            <a:ext cx="2019300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9372600" y="3429000"/>
            <a:ext cx="2019300" cy="571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9477375" y="3667125"/>
            <a:ext cx="323850" cy="32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583067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878187" y="3699986"/>
            <a:ext cx="71216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标准化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37954" y="4080510"/>
            <a:ext cx="15398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RPKM / FPKM / TPM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62000" y="5143500"/>
            <a:ext cx="10668000" cy="609600"/>
          </a:xfrm>
          <a:prstGeom prst="roundRect">
            <a:avLst>
              <a:gd name="adj" fmla="val 15625"/>
            </a:avLst>
          </a:prstGeom>
          <a:solidFill>
            <a:schemeClr val="lt1"/>
          </a:solidFill>
          <a:ln w="14288">
            <a:solidFill>
              <a:schemeClr val="accent5">
                <a:alpha val="35000"/>
              </a:schemeClr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762000" y="5143500"/>
            <a:ext cx="57150" cy="6096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82980" y="5362575"/>
            <a:ext cx="74637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rgbClr val="20615E"/>
                </a:solidFill>
                <a:latin typeface="Microsoft YaHei"/>
                <a:ea typeface="Microsoft YaHei"/>
                <a:cs typeface="Microsoft YaHei"/>
              </a:rPr>
              <a:t>下一部分 · 上机与收束</a:t>
            </a:r>
            <a:r>
              <a:rPr lang="zh-Hans-CN" sz="15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 xml:space="preserve"> —— 铺垫到这里，现在亲手把 SRR001666 这条读长跑一遍</a:t>
            </a:r>
          </a:p>
        </p:txBody>
      </p:sp>
      <p:sp>
        <p:nvSpPr>
          <p:cNvPr id="43" name="Rectangle 43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82980" y="6067425"/>
            <a:ext cx="52866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Bioconductor 的价值在于：所有区间操作共享同一套抽象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980432" y="651891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第五部分 · R 里的基因组数据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84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810500" y="2762250"/>
            <a:ext cx="3714750" cy="533400"/>
          </a:xfrm>
          <a:prstGeom prst="roundRect">
            <a:avLst>
              <a:gd name="adj" fmla="val 14286"/>
            </a:avLst>
          </a:pr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810500" y="2762250"/>
            <a:ext cx="76200" cy="533400"/>
          </a:xfrm>
          <a:prstGeom prst="roundRect">
            <a:avLst>
              <a:gd name="adj" fmla="val 50000"/>
            </a:avLst>
          </a:prstGeom>
          <a:solidFill>
            <a:schemeClr val="lt1">
              <a:alpha val="55000"/>
            </a:scheme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810500" y="3486150"/>
            <a:ext cx="3467100" cy="533400"/>
          </a:xfrm>
          <a:prstGeom prst="roundRect">
            <a:avLst>
              <a:gd name="adj" fmla="val 14286"/>
            </a:avLst>
          </a:prstGeom>
          <a:solidFill>
            <a:schemeClr val="lt1">
              <a:alpha val="15000"/>
            </a:scheme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810500" y="3486150"/>
            <a:ext cx="76200" cy="533400"/>
          </a:xfrm>
          <a:prstGeom prst="roundRect">
            <a:avLst>
              <a:gd name="adj" fmla="val 50000"/>
            </a:avLst>
          </a:prstGeom>
          <a:solidFill>
            <a:schemeClr val="lt1">
              <a:alpha val="55000"/>
            </a:scheme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810500" y="4210050"/>
            <a:ext cx="3219450" cy="533400"/>
          </a:xfrm>
          <a:prstGeom prst="roundRect">
            <a:avLst>
              <a:gd name="adj" fmla="val 14286"/>
            </a:avLst>
          </a:prstGeom>
          <a:solidFill>
            <a:schemeClr val="lt1">
              <a:alpha val="20000"/>
            </a:scheme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810500" y="4210050"/>
            <a:ext cx="76200" cy="533400"/>
          </a:xfrm>
          <a:prstGeom prst="roundRect">
            <a:avLst>
              <a:gd name="adj" fmla="val 50000"/>
            </a:avLst>
          </a:prstGeom>
          <a:solidFill>
            <a:schemeClr val="lt1">
              <a:alpha val="55000"/>
            </a:scheme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810500" y="4933950"/>
            <a:ext cx="2971800" cy="533400"/>
          </a:xfrm>
          <a:prstGeom prst="roundRect">
            <a:avLst>
              <a:gd name="adj" fmla="val 14286"/>
            </a:avLst>
          </a:prstGeom>
          <a:solidFill>
            <a:schemeClr val="lt1">
              <a:alpha val="25000"/>
            </a:scheme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810500" y="4933950"/>
            <a:ext cx="76200" cy="533400"/>
          </a:xfrm>
          <a:prstGeom prst="roundRect">
            <a:avLst>
              <a:gd name="adj" fmla="val 50000"/>
            </a:avLst>
          </a:prstGeom>
          <a:solidFill>
            <a:schemeClr val="lt1">
              <a:alpha val="55000"/>
            </a:scheme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810500" y="5657850"/>
            <a:ext cx="2724150" cy="533400"/>
          </a:xfrm>
          <a:prstGeom prst="roundRect">
            <a:avLst>
              <a:gd name="adj" fmla="val 14286"/>
            </a:avLst>
          </a:prstGeom>
          <a:solidFill>
            <a:schemeClr val="lt1">
              <a:alpha val="30000"/>
            </a:scheme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7810500" y="5657850"/>
            <a:ext cx="76200" cy="533400"/>
          </a:xfrm>
          <a:prstGeom prst="roundRect">
            <a:avLst>
              <a:gd name="adj" fmla="val 50000"/>
            </a:avLst>
          </a:prstGeom>
          <a:solidFill>
            <a:schemeClr val="lt1">
              <a:alpha val="55000"/>
            </a:scheme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5142" y="1073468"/>
            <a:ext cx="4372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75" dirty="0">
                <a:solidFill>
                  <a:srgbClr val="FFFFFF">
                    <a:alphaMod val="75000"/>
                  </a:srgbClr>
                </a:solidFill>
                <a:latin typeface="+mn-lt"/>
                <a:ea typeface="+mn-ea"/>
                <a:cs typeface="+mn-cs"/>
              </a:rPr>
              <a:t>LAB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45117" y="990600"/>
            <a:ext cx="1903933" cy="2305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0" b="1" dirty="0">
                <a:solidFill>
                  <a:srgbClr val="FFFFFF">
                    <a:alphaMod val="16000"/>
                  </a:srgbClr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2950" y="1651635"/>
            <a:ext cx="3874770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5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上机与收束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2094" y="2608898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950" dirty="0">
                <a:solidFill>
                  <a:srgbClr val="FFFFFF">
                    <a:alphaMod val="82000"/>
                  </a:srgbClr>
                </a:solidFill>
                <a:latin typeface="Microsoft YaHei"/>
                <a:ea typeface="Microsoft YaHei"/>
                <a:cs typeface="Microsoft YaHei"/>
              </a:rPr>
              <a:t>动手看一遍真实数据</a:t>
            </a:r>
          </a:p>
        </p:txBody>
      </p:sp>
      <p:sp>
        <p:nvSpPr>
          <p:cNvPr id="16" name="Line 16"/>
          <p:cNvSpPr/>
          <p:nvPr/>
        </p:nvSpPr>
        <p:spPr>
          <a:xfrm>
            <a:off x="762000" y="32766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</p:sp>
      <p:sp>
        <p:nvSpPr>
          <p:cNvPr id="17" name="Ellipse 17"/>
          <p:cNvSpPr/>
          <p:nvPr/>
        </p:nvSpPr>
        <p:spPr>
          <a:xfrm>
            <a:off x="814388" y="37480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59180" y="3686175"/>
            <a:ext cx="28742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练习 1：看懂一条 FASTQ 记录</a:t>
            </a:r>
          </a:p>
        </p:txBody>
      </p:sp>
      <p:sp>
        <p:nvSpPr>
          <p:cNvPr id="19" name="Ellipse 19"/>
          <p:cNvSpPr/>
          <p:nvPr/>
        </p:nvSpPr>
        <p:spPr>
          <a:xfrm>
            <a:off x="814388" y="41671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59180" y="4105275"/>
            <a:ext cx="1802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练习 2：手算质量值</a:t>
            </a:r>
          </a:p>
        </p:txBody>
      </p:sp>
      <p:sp>
        <p:nvSpPr>
          <p:cNvPr id="21" name="Ellipse 21"/>
          <p:cNvSpPr/>
          <p:nvPr/>
        </p:nvSpPr>
        <p:spPr>
          <a:xfrm>
            <a:off x="814388" y="45862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59180" y="4524375"/>
            <a:ext cx="26100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练习 3：用命令行做一次质控</a:t>
            </a:r>
          </a:p>
        </p:txBody>
      </p:sp>
      <p:sp>
        <p:nvSpPr>
          <p:cNvPr id="23" name="Ellipse 23"/>
          <p:cNvSpPr/>
          <p:nvPr/>
        </p:nvSpPr>
        <p:spPr>
          <a:xfrm>
            <a:off x="814388" y="5005388"/>
            <a:ext cx="85725" cy="85725"/>
          </a:xfrm>
          <a:prstGeom prst="ellipse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59180" y="4943475"/>
            <a:ext cx="25008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92000"/>
                  </a:srgbClr>
                </a:solidFill>
                <a:latin typeface="Microsoft YaHei"/>
                <a:ea typeface="Microsoft YaHei"/>
                <a:cs typeface="Microsoft YaHei"/>
              </a:rPr>
              <a:t>练习 4：读一个 GFF3 文件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70068" y="651891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第六部分 · 上机与收束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9FB0C4"/>
                </a:solidFill>
                <a:latin typeface="+mn-lt"/>
                <a:ea typeface="+mn-ea"/>
                <a:cs typeface="+mn-cs"/>
              </a:rPr>
              <a:t>85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8127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LAB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769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练习 1：四行结构，取任意字段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目标：把四行结构记牢，并能取到任意字段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57500"/>
            <a:ext cx="6286500" cy="2952750"/>
          </a:xfrm>
          <a:prstGeom prst="roundRect">
            <a:avLst>
              <a:gd name="adj" fmla="val 3226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857500"/>
            <a:ext cx="6286500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42975" y="297180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114425" y="297180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285875" y="297180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777076" y="2937510"/>
            <a:ext cx="1060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404" y="3356610"/>
            <a:ext cx="29821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用 R 读入 FASTQ（取前 8 行做示例）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404" y="3554730"/>
            <a:ext cx="33310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lines &lt;- readLines('sample.fastq', n = 8)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404" y="3950970"/>
            <a:ext cx="19426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Microsoft YaHei"/>
                <a:cs typeface="JetBrains Mono"/>
              </a:rPr>
              <a:t xml:space="preserve">id    &lt;- lines[1]   # @ 开头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404" y="4149090"/>
            <a:ext cx="18861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Microsoft YaHei"/>
                <a:cs typeface="JetBrains Mono"/>
              </a:rPr>
              <a:t xml:space="preserve">seq   &lt;- lines[2]   # 序列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404" y="4347210"/>
            <a:ext cx="20234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Microsoft YaHei"/>
                <a:cs typeface="JetBrains Mono"/>
              </a:rPr>
              <a:t xml:space="preserve">plus  &lt;- lines[3]   # + 开头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6404" y="4545330"/>
            <a:ext cx="22091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Microsoft YaHei"/>
                <a:cs typeface="JetBrains Mono"/>
              </a:rPr>
              <a:t xml:space="preserve">qual  &lt;- lines[4]   # 质量字符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6404" y="4744402"/>
            <a:ext cx="15064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Microsoft YaHei"/>
                <a:cs typeface="JetBrains Mono"/>
              </a:rPr>
              <a:t xml:space="preserve">nchar(seq)   # 读长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404" y="4942522"/>
            <a:ext cx="23141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Microsoft YaHei"/>
                <a:cs typeface="JetBrains Mono"/>
              </a:rPr>
              <a:t xml:space="preserve">nchar(qual)  # 必须与读长一致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6404" y="5338762"/>
            <a:ext cx="15468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用 seqkit 更方便：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6404" y="5536882"/>
            <a:ext cx="22414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JetBrains Mono"/>
                <a:cs typeface="JetBrains Mono"/>
              </a:rPr>
              <a:t># seqkit stats sample.fastq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353300" y="27813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556754" y="2785110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第二行与第四行长度必须相等，否则文件损坏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353300" y="320992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556754" y="3213735"/>
            <a:ext cx="39579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readLines 的 n 参数只读前 n 行，避免大文件占满内存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353300" y="363855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56754" y="3642360"/>
            <a:ext cx="36307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seqkit stats 能一次性给出条数、总长、长度分布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353300" y="406717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556754" y="4070985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练习：统计一下样本里的平均读长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82980" y="6067425"/>
            <a:ext cx="501053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FASTQ 的四行结构是所有质控与过滤工具的共同前提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70068" y="651891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第六部分 · 上机与收束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86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8127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LAB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69084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练习 2：Q 值与错误概率互换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79282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目标：把 Q 值与错误概率的换算变成肌肉记忆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57500"/>
            <a:ext cx="6286500" cy="2952750"/>
          </a:xfrm>
          <a:prstGeom prst="roundRect">
            <a:avLst>
              <a:gd name="adj" fmla="val 3226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857500"/>
            <a:ext cx="6286500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42975" y="297180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114425" y="297180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285875" y="297180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777076" y="2937510"/>
            <a:ext cx="1060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404" y="3356610"/>
            <a:ext cx="12582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Q -&gt; 错误概率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404" y="3554730"/>
            <a:ext cx="28876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q_to_p &lt;- function(q) 10 ^ (-q / 10)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404" y="375285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q_to_p(c(10, 20, 30, 40))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404" y="3950970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JetBrains Mono"/>
                <a:cs typeface="JetBrains Mono"/>
              </a:rPr>
              <a:t xml:space="preserve"># 0.1  0.01  0.001  0.0001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404" y="4347210"/>
            <a:ext cx="21518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字符 -&gt; Q 值（Phred+33）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6404" y="4545330"/>
            <a:ext cx="36540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char_to_q &lt;- function(ch) utf8ToInt(ch) - 33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6404" y="4743450"/>
            <a:ext cx="18342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 xml:space="preserve">char_to_q('I')      # 40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404" y="4941570"/>
            <a:ext cx="1861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 xml:space="preserve">char_to_q('?')      # 30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6404" y="5139690"/>
            <a:ext cx="11387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Q 值 -&gt; 字符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6404" y="5337810"/>
            <a:ext cx="40984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q_to_char &lt;- function(q) intToUtf8(33 + round(q))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6404" y="5535930"/>
            <a:ext cx="18830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 xml:space="preserve">q_to_char(40)       # 'I'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353300" y="27813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56754" y="2785110"/>
            <a:ext cx="35881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Q20 = 1% 错误率，Q30 = 0.1%，Q40 = 0.01%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353300" y="320992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556754" y="3213735"/>
            <a:ext cx="24821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为什么 Illumina 报告强调 %Q30？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56754" y="34328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因为它是常用的质量门槛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353300" y="385762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556754" y="3861435"/>
            <a:ext cx="31613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练习：算一下 Q15 对应的错误概率是多少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353300" y="428625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556754" y="4290060"/>
            <a:ext cx="40940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思考：一个 150 bp 的读长，如果每个位置都是 Q30，整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56754" y="4509135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条读长完全正确的概率是多少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82980" y="6067425"/>
            <a:ext cx="4053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看懂质量值，才能判断一份数据到底能不能用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70068" y="651891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第六部分 · 上机与收束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87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8127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LAB 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28469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练习 3：用命令行做一次质控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530915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目标：不写代码，用三条命令把一份 FASTQ 看明白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57500"/>
            <a:ext cx="6286500" cy="2952750"/>
          </a:xfrm>
          <a:prstGeom prst="roundRect">
            <a:avLst>
              <a:gd name="adj" fmla="val 3226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857500"/>
            <a:ext cx="6286500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42975" y="297180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114425" y="297180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285875" y="297180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454978" y="2937510"/>
            <a:ext cx="4281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bash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404" y="3356610"/>
            <a:ext cx="18295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1. 四行结构与长度分布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404" y="3554730"/>
            <a:ext cx="21041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seqkit stats sample.fastq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404" y="3950970"/>
            <a:ext cx="15064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2. 逐碱基质量报告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404" y="4149090"/>
            <a:ext cx="21930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fastqc sample.fastq -o qc/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404" y="4545330"/>
            <a:ext cx="18295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3. 多样本汇总成一张表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6404" y="4743450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multiqc qc/ -o qc/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562850" y="27813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766304" y="2785110"/>
            <a:ext cx="34207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seqkit stats：条数、总长、长度分布一次给出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562850" y="320992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66304" y="3213735"/>
            <a:ext cx="37277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fastqc：每个位置的质量分布，看 3′ 端是否掉下来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562850" y="363855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766304" y="3642360"/>
            <a:ext cx="28472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multiqc：把多个样本的报告并成一张表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562850" y="406717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66304" y="4070985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要交什么：三条命令的输出，各附一句解读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562850" y="44958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766304" y="4499610"/>
            <a:ext cx="33076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哪一步最容易被跳过？—— 看完报告再动手过滤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82980" y="6067425"/>
            <a:ext cx="4053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命令行质控的三步：看结构、看质量、看汇总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70068" y="651891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第六部分 · 上机与收束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88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8127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20615E"/>
                </a:solidFill>
                <a:latin typeface="+mn-lt"/>
                <a:ea typeface="+mn-ea"/>
                <a:cs typeface="+mn-cs"/>
              </a:rPr>
              <a:t>LAB 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28469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练习 4：把注释变成区间对象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目标：把注释变成可操作的区间对象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57500"/>
            <a:ext cx="6286500" cy="2952750"/>
          </a:xfrm>
          <a:prstGeom prst="roundRect">
            <a:avLst>
              <a:gd name="adj" fmla="val 3226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857500"/>
            <a:ext cx="6286500" cy="323850"/>
          </a:xfrm>
          <a:prstGeom prst="roundRect">
            <a:avLst>
              <a:gd name="adj" fmla="val 29412"/>
            </a:avLst>
          </a:prstGeom>
          <a:solidFill>
            <a:srgbClr val="1B3050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42975" y="2971800"/>
            <a:ext cx="95250" cy="95250"/>
          </a:xfrm>
          <a:prstGeom prst="ellipse">
            <a:avLst/>
          </a:prstGeom>
          <a:solidFill>
            <a:srgbClr val="E0655B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114425" y="2971800"/>
            <a:ext cx="95250" cy="95250"/>
          </a:xfrm>
          <a:prstGeom prst="ellipse">
            <a:avLst/>
          </a:prstGeom>
          <a:solidFill>
            <a:srgbClr val="E8C05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285875" y="2971800"/>
            <a:ext cx="95250" cy="95250"/>
          </a:xfrm>
          <a:prstGeom prst="ellipse">
            <a:avLst/>
          </a:prstGeom>
          <a:solidFill>
            <a:srgbClr val="5BC47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777076" y="2937510"/>
            <a:ext cx="1060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spc="150" dirty="0">
                <a:solidFill>
                  <a:srgbClr val="7F9DC4"/>
                </a:solidFill>
                <a:latin typeface="+mn-lt"/>
                <a:ea typeface="+mn-ea"/>
                <a:cs typeface="+mn-cs"/>
              </a:rPr>
              <a:t>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404" y="3356610"/>
            <a:ext cx="16680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library(rtracklayer)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404" y="3752850"/>
            <a:ext cx="9253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读入 GFF3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404" y="3950970"/>
            <a:ext cx="27261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gff &lt;- import('annotation.gff3')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404" y="4149090"/>
            <a:ext cx="2787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gff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404" y="43472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只看基因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6404" y="4545330"/>
            <a:ext cx="26938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genes &lt;- gff[gff$type == 'gene']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6404" y="4743450"/>
            <a:ext cx="2734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区间运算：找与目标区域重叠的基因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404" y="4941570"/>
            <a:ext cx="44739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target &lt;- GRanges('chr1', IRanges(1000000, 1100000))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6404" y="5139690"/>
            <a:ext cx="27293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subsetByOverlaps(genes, target)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6404" y="5337810"/>
            <a:ext cx="20880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Microsoft YaHei"/>
                <a:cs typeface="JetBrains Mono"/>
              </a:rPr>
              <a:t># 统计每条染色体上的基因数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6404" y="5535930"/>
            <a:ext cx="19587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table(seqnames(genes))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353300" y="27813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56754" y="2785110"/>
            <a:ext cx="39899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rtracklayer 的 import() 能直接读 GFF3 / GTF / BED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353300" y="320992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556754" y="3213735"/>
            <a:ext cx="28274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GRanges 对象可以直接做区间重叠运算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353300" y="363855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556754" y="3642360"/>
            <a:ext cx="38973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seqnames / start / end / strand 是四个基本访问器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53300" y="4067175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56754" y="4070985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练习：统计一下你的注释里有多少个基因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353300" y="44958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56754" y="44996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进阶：算一下外显子的平均长度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82980" y="6067425"/>
            <a:ext cx="56068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注释文件读进 R 之后，基因组区间就变成了可以编程的对象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70068" y="651891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第六部分 · 上机与收束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89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1093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PITFALLS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449882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新手最常踩的 8 个坑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24601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这些坑，踩过的人都记得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84504" y="28232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坐标约定搞混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980" y="3057525"/>
            <a:ext cx="47169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GFF 是 1-based 闭区间，BED 是 0-based 半开区间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484245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4504" y="348805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注释版本不一致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980" y="3722370"/>
            <a:ext cx="41224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比对用的参考与定量用的 GTF 不是同一版本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414909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4504" y="4152900"/>
            <a:ext cx="8733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忽视 MAPQ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980" y="4387215"/>
            <a:ext cx="4053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不过滤多重映射读长，表达量会被系统性高估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4814888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84504" y="4818698"/>
            <a:ext cx="11788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直接比较 FPKM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2980" y="5053012"/>
            <a:ext cx="40050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FPKM 的样本间总和不同，不能直接横向比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38875" y="281940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461379" y="2823210"/>
            <a:ext cx="13047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把 TPM 当绝对量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59855" y="3057525"/>
            <a:ext cx="36743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TPM 是相对值，不能跨基因比表达高低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38875" y="3484245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61379" y="348805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只看汇总不看原始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59855" y="3722370"/>
            <a:ext cx="38557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自动流程给可疑结果时，先用 IGV 看一眼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38875" y="4149090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461379" y="4152900"/>
            <a:ext cx="12265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忘记 read2 方向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59855" y="4387215"/>
            <a:ext cx="49827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链特异性（strandedness）参数设错，定量方向就反了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38875" y="4814888"/>
            <a:ext cx="7620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461379" y="4818698"/>
            <a:ext cx="8733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884618"/>
                </a:solidFill>
                <a:latin typeface="Microsoft YaHei"/>
                <a:ea typeface="Microsoft YaHei"/>
                <a:cs typeface="Microsoft YaHei"/>
              </a:rPr>
              <a:t>忽略 %Q30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59855" y="5053012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质量差的碱基会带来假阳性变异与错误定量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82980" y="6067425"/>
            <a:ext cx="56692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格式与坐标的细节，是生信分析里最容易出错也最难排查的部分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70068" y="651891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第六部分 · 上机与收束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90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802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LEARNING PATH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827532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从看懂格式，到跑通流程，到设计分析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从看懂格式，到跑通流程，再到设计分析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3429000"/>
            <a:ext cx="2562225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3429000"/>
            <a:ext cx="2562225" cy="571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866775" y="3667125"/>
            <a:ext cx="323850" cy="3238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72467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7587" y="3699986"/>
            <a:ext cx="9437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看懂格式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7354" y="4080510"/>
            <a:ext cx="2393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FASTA / FASTQ / SAM / VCF 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7354" y="42900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能手工解读</a:t>
            </a:r>
          </a:p>
        </p:txBody>
      </p:sp>
      <p:sp>
        <p:nvSpPr>
          <p:cNvPr id="13" name="Freeform 13"/>
          <p:cNvSpPr/>
          <p:nvPr/>
        </p:nvSpPr>
        <p:spPr>
          <a:xfrm>
            <a:off x="3343275" y="4152900"/>
            <a:ext cx="95250" cy="171450"/>
          </a:xfrm>
          <a:custGeom>
            <a:avLst/>
            <a:gdLst/>
            <a:ahLst/>
            <a:cxnLst/>
            <a:rect l="l" t="t" r="r" b="b"/>
            <a:pathLst>
              <a:path w="95250" h="171450">
                <a:moveTo>
                  <a:pt x="0" y="0"/>
                </a:moveTo>
                <a:lnTo>
                  <a:pt x="952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CFD8E3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457575" y="3429000"/>
            <a:ext cx="2562225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457575" y="3429000"/>
            <a:ext cx="2562225" cy="571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3562350" y="3667125"/>
            <a:ext cx="323850" cy="3238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668042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63162" y="3699986"/>
            <a:ext cx="9437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跑通工具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22929" y="4080510"/>
            <a:ext cx="22495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samtools / bedtools / seqkit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22929" y="42900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的常用命令</a:t>
            </a:r>
          </a:p>
        </p:txBody>
      </p:sp>
      <p:sp>
        <p:nvSpPr>
          <p:cNvPr id="21" name="Freeform 21"/>
          <p:cNvSpPr/>
          <p:nvPr/>
        </p:nvSpPr>
        <p:spPr>
          <a:xfrm>
            <a:off x="6038850" y="4152900"/>
            <a:ext cx="95250" cy="171450"/>
          </a:xfrm>
          <a:custGeom>
            <a:avLst/>
            <a:gdLst/>
            <a:ahLst/>
            <a:cxnLst/>
            <a:rect l="l" t="t" r="r" b="b"/>
            <a:pathLst>
              <a:path w="95250" h="171450">
                <a:moveTo>
                  <a:pt x="0" y="0"/>
                </a:moveTo>
                <a:lnTo>
                  <a:pt x="952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CFD8E3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153150" y="3429000"/>
            <a:ext cx="2562225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153150" y="3429000"/>
            <a:ext cx="2562225" cy="571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6257925" y="3667125"/>
            <a:ext cx="323850" cy="3238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63617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8737" y="3699986"/>
            <a:ext cx="72518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进入 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18504" y="4080510"/>
            <a:ext cx="1253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Bioconductor 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18504" y="42900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区间抽象与定量</a:t>
            </a:r>
          </a:p>
        </p:txBody>
      </p:sp>
      <p:sp>
        <p:nvSpPr>
          <p:cNvPr id="29" name="Freeform 29"/>
          <p:cNvSpPr/>
          <p:nvPr/>
        </p:nvSpPr>
        <p:spPr>
          <a:xfrm>
            <a:off x="8734425" y="4152900"/>
            <a:ext cx="95250" cy="171450"/>
          </a:xfrm>
          <a:custGeom>
            <a:avLst/>
            <a:gdLst/>
            <a:ahLst/>
            <a:cxnLst/>
            <a:rect l="l" t="t" r="r" b="b"/>
            <a:pathLst>
              <a:path w="95250" h="171450">
                <a:moveTo>
                  <a:pt x="0" y="0"/>
                </a:moveTo>
                <a:lnTo>
                  <a:pt x="952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CFD8E3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8848725" y="3429000"/>
            <a:ext cx="2562225" cy="161925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8848725" y="3429000"/>
            <a:ext cx="2562225" cy="57150"/>
          </a:xfrm>
          <a:prstGeom prst="roundRect">
            <a:avLst>
              <a:gd name="adj" fmla="val 50000"/>
            </a:avLst>
          </a:prstGeom>
          <a:solidFill>
            <a:srgbClr val="A06CD5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8953500" y="3667125"/>
            <a:ext cx="323850" cy="32385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59192" y="37485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54312" y="3699986"/>
            <a:ext cx="9437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7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设计分析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14079" y="40805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根据生物学问题选择测序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14079" y="42900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方案与深度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82980" y="6067425"/>
            <a:ext cx="36499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格式与工具是基础，问题设计才是分水岭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270068" y="651891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第六部分 · 上机与收束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91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3440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884618"/>
                </a:solidFill>
                <a:latin typeface="+mn-lt"/>
                <a:ea typeface="+mn-ea"/>
                <a:cs typeface="+mn-cs"/>
              </a:rPr>
              <a:t>RESOURCES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规格和文档，比搜索结果可靠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90347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遇到字段争议先查规格，遇到流程问题先查工作流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86050"/>
            <a:ext cx="10668000" cy="533400"/>
          </a:xfrm>
          <a:prstGeom prst="roundRect">
            <a:avLst>
              <a:gd name="adj" fmla="val 1785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686050"/>
            <a:ext cx="57150" cy="53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59180" y="2857500"/>
            <a:ext cx="9013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Biostars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22904" y="2889885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884618"/>
                </a:solidFill>
                <a:latin typeface="Consolas"/>
                <a:ea typeface="Consolas"/>
                <a:cs typeface="Consolas"/>
              </a:rPr>
              <a:t>biostars.org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32904" y="2889885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生信问题问答社区，先搜再问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3333750"/>
            <a:ext cx="10668000" cy="533400"/>
          </a:xfrm>
          <a:prstGeom prst="roundRect">
            <a:avLst>
              <a:gd name="adj" fmla="val 1785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62000" y="3333750"/>
            <a:ext cx="57150" cy="53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59180" y="3505200"/>
            <a:ext cx="11504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SeqKit 文档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22904" y="3537585"/>
            <a:ext cx="20476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884618"/>
                </a:solidFill>
                <a:latin typeface="Consolas"/>
                <a:ea typeface="Consolas"/>
                <a:cs typeface="Consolas"/>
              </a:rPr>
              <a:t>bioinf.shenwei.me/seqkit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2904" y="3537585"/>
            <a:ext cx="24274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FASTQ / FASTA 命令行工具手册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3981450"/>
            <a:ext cx="10668000" cy="533400"/>
          </a:xfrm>
          <a:prstGeom prst="roundRect">
            <a:avLst>
              <a:gd name="adj" fmla="val 1785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762000" y="3981450"/>
            <a:ext cx="57150" cy="53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59180" y="4152900"/>
            <a:ext cx="106477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hts-specs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22904" y="4185285"/>
            <a:ext cx="24111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884618"/>
                </a:solidFill>
                <a:latin typeface="Consolas"/>
                <a:ea typeface="Consolas"/>
                <a:cs typeface="Consolas"/>
              </a:rPr>
              <a:t>samtools.github.io/hts-specs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2904" y="4185285"/>
            <a:ext cx="39294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SAM / VCF / BAM 的官方规格，字段有争议以此为准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4629150"/>
            <a:ext cx="10668000" cy="533400"/>
          </a:xfrm>
          <a:prstGeom prst="roundRect">
            <a:avLst>
              <a:gd name="adj" fmla="val 1785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762000" y="4629150"/>
            <a:ext cx="57150" cy="53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9180" y="4800600"/>
            <a:ext cx="20405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Bioconductor 工作流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22904" y="4832985"/>
            <a:ext cx="13933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884618"/>
                </a:solidFill>
                <a:latin typeface="Consolas"/>
                <a:ea typeface="Consolas"/>
                <a:cs typeface="Consolas"/>
              </a:rPr>
              <a:t>bioconductor.org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32904" y="4832985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按实验类型组织的分析流程与代码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5276850"/>
            <a:ext cx="10668000" cy="533400"/>
          </a:xfrm>
          <a:prstGeom prst="roundRect">
            <a:avLst>
              <a:gd name="adj" fmla="val 1785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62000" y="5276850"/>
            <a:ext cx="57150" cy="53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59180" y="5448300"/>
            <a:ext cx="8228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IGV 文档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22904" y="5480685"/>
            <a:ext cx="26776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884618"/>
                </a:solidFill>
                <a:latin typeface="Consolas"/>
                <a:ea typeface="Consolas"/>
                <a:cs typeface="Consolas"/>
              </a:rPr>
              <a:t>software.broadinstitute.org/igv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32904" y="5480685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看原始比对的操作说明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82980" y="6067425"/>
            <a:ext cx="5959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字段有争议时查规格文档，流程不确定时查 Bioconductor 工作流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70068" y="651891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第六部分 · 上机与收束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92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1957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GLOSSARY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这八个缩写，先来这儿对一遍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英文缩写太多，这张表当字典用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667000"/>
            <a:ext cx="10668000" cy="342900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70204" y="2756535"/>
            <a:ext cx="8534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缩写 / 术语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51765" y="27565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14887" y="27565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一句话解释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3009900"/>
            <a:ext cx="10668000" cy="3429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70204" y="3099435"/>
            <a:ext cx="7717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HTS / NGS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1765" y="3099435"/>
            <a:ext cx="37065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High-Throughput / Next-Generation Sequencing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14887" y="3099435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高通量测序 / 二代测序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0204" y="3442335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SBS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51765" y="3442335"/>
            <a:ext cx="19043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Sequencing by Synthesis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14887" y="34423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边合成边测序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686175"/>
            <a:ext cx="10668000" cy="3429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70204" y="3775710"/>
            <a:ext cx="372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Read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51765" y="37757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读长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14887" y="377571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测序仪读出的一段序列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0204" y="4118610"/>
            <a:ext cx="8732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Insert size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51765" y="41186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插入片段长度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14887" y="411861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双端测序两个读长之间的片段长度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4362450"/>
            <a:ext cx="10668000" cy="3429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70204" y="4451985"/>
            <a:ext cx="9535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Multiplexing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51765" y="44519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多重测序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14887" y="4451985"/>
            <a:ext cx="22899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用 index 在同一通道测多个样本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0204" y="4794885"/>
            <a:ext cx="9544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Phred score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51765" y="4794885"/>
            <a:ext cx="703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质量值 Q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14887" y="4794885"/>
            <a:ext cx="2789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Q = -10 log10(p)，衡量碱基错误概率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5038725"/>
            <a:ext cx="10668000" cy="3429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70204" y="5128260"/>
            <a:ext cx="438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CIGAR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51765" y="51282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简要比对信息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14887" y="5128260"/>
            <a:ext cx="27584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描述匹配、插入、缺失与剪接的编码串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204" y="5471160"/>
            <a:ext cx="7280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Coverage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51765" y="54711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覆盖度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14887" y="54711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某个位置被读长覆盖的次数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6057900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762000" y="6057900"/>
            <a:ext cx="5715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82980" y="6181725"/>
            <a:ext cx="42557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术语看不懂时，先查这张表，再去搜更细的资料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70068" y="651891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第六部分 · 上机与收束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93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68668"/>
            <a:ext cx="10474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ANSWERS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712" y="1211580"/>
            <a:ext cx="585216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36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开场的四行，现在逐行回答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1841182"/>
            <a:ext cx="432343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同一条 SRR001666.1，一个字符都没有改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495550"/>
            <a:ext cx="5334000" cy="1524000"/>
          </a:xfrm>
          <a:prstGeom prst="roundRect">
            <a:avLst>
              <a:gd name="adj" fmla="val 6250"/>
            </a:avLst>
          </a:prstGeom>
          <a:solidFill>
            <a:srgbClr val="0F1D3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46404" y="2708910"/>
            <a:ext cx="49364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D4A8"/>
                </a:solidFill>
                <a:latin typeface="JetBrains Mono"/>
                <a:ea typeface="JetBrains Mono"/>
                <a:cs typeface="JetBrains Mono"/>
              </a:rPr>
              <a:t>@SRR001666.1 071112_SLXA-EAS1_s_7:5:1:817:345 length=36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6404" y="3051810"/>
            <a:ext cx="33918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6EEFC"/>
                </a:solidFill>
                <a:latin typeface="JetBrains Mono"/>
                <a:ea typeface="JetBrains Mono"/>
                <a:cs typeface="JetBrains Mono"/>
              </a:rPr>
              <a:t>GGGTGATGGCCGCTGCCGATGGCGTCAAATCCCACC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6404" y="3394710"/>
            <a:ext cx="49364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7F9DC4"/>
                </a:solidFill>
                <a:latin typeface="JetBrains Mono"/>
                <a:ea typeface="JetBrains Mono"/>
                <a:cs typeface="JetBrains Mono"/>
              </a:rPr>
              <a:t>+SRR001666.1 071112_SLXA-EAS1_s_7:5:1:817:345 length=36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6404" y="3737610"/>
            <a:ext cx="20263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E8C05B"/>
                </a:solidFill>
                <a:latin typeface="JetBrains Mono"/>
                <a:ea typeface="JetBrains Mono"/>
                <a:cs typeface="JetBrains Mono"/>
              </a:rPr>
              <a:t>IIIIIIIIIIIIIIIIIIIIIIIIIIIIII9IG9IC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400800" y="24765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604254" y="251841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第 1 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90054" y="2518410"/>
            <a:ext cx="38356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@ 是 FASTQ 的记号，后面是仪器给出的位置与读长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400800" y="28575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604254" y="289941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第 2 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90054" y="2899410"/>
            <a:ext cx="33150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36 个碱基，就是 SBS 循环 36 轮成像的结果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00800" y="32385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604254" y="328041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第 3 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90054" y="3280410"/>
            <a:ext cx="33064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+ 只是分隔符，重复 ID 是老写法，可以省略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00800" y="3619500"/>
            <a:ext cx="76200" cy="247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604254" y="366141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b="1" dirty="0">
                <a:solidFill>
                  <a:srgbClr val="374DBA"/>
                </a:solidFill>
                <a:latin typeface="Microsoft YaHei"/>
                <a:ea typeface="Microsoft YaHei"/>
                <a:cs typeface="Microsoft YaHei"/>
              </a:rPr>
              <a:t>第 4 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90054" y="3661410"/>
            <a:ext cx="3869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每个字符是一个碱基的质量：ASCII 减 33 才是 Q 值</a:t>
            </a:r>
          </a:p>
        </p:txBody>
      </p:sp>
      <p:sp>
        <p:nvSpPr>
          <p:cNvPr id="23" name="Line 23"/>
          <p:cNvSpPr/>
          <p:nvPr/>
        </p:nvSpPr>
        <p:spPr>
          <a:xfrm>
            <a:off x="1143000" y="56388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9525">
            <a:solidFill>
              <a:srgbClr val="CFD8E3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19760" y="5556885"/>
            <a:ext cx="2340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525863"/>
                </a:solidFill>
                <a:latin typeface="+mn-lt"/>
                <a:ea typeface="+mn-ea"/>
                <a:cs typeface="+mn-cs"/>
              </a:rPr>
              <a:t>Q0</a:t>
            </a:r>
          </a:p>
        </p:txBody>
      </p:sp>
      <p:sp>
        <p:nvSpPr>
          <p:cNvPr id="25" name="Line 25"/>
          <p:cNvSpPr/>
          <p:nvPr/>
        </p:nvSpPr>
        <p:spPr>
          <a:xfrm>
            <a:off x="1143000" y="5000625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9525">
            <a:solidFill>
              <a:srgbClr val="CFD8E3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25881" y="4918710"/>
            <a:ext cx="3279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525863"/>
                </a:solidFill>
                <a:latin typeface="+mn-lt"/>
                <a:ea typeface="+mn-ea"/>
                <a:cs typeface="+mn-cs"/>
              </a:rPr>
              <a:t>Q20</a:t>
            </a:r>
          </a:p>
        </p:txBody>
      </p:sp>
      <p:sp>
        <p:nvSpPr>
          <p:cNvPr id="27" name="Line 27"/>
          <p:cNvSpPr/>
          <p:nvPr/>
        </p:nvSpPr>
        <p:spPr>
          <a:xfrm>
            <a:off x="1143000" y="436245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9525">
            <a:solidFill>
              <a:srgbClr val="CFD8E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25881" y="4280535"/>
            <a:ext cx="3279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525863"/>
                </a:solidFill>
                <a:latin typeface="+mn-lt"/>
                <a:ea typeface="+mn-ea"/>
                <a:cs typeface="+mn-cs"/>
              </a:rPr>
              <a:t>Q40</a:t>
            </a:r>
          </a:p>
        </p:txBody>
      </p:sp>
      <p:sp>
        <p:nvSpPr>
          <p:cNvPr id="29" name="Line 29"/>
          <p:cNvSpPr/>
          <p:nvPr/>
        </p:nvSpPr>
        <p:spPr>
          <a:xfrm>
            <a:off x="1143000" y="4681538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14288">
            <a:solidFill>
              <a:srgbClr val="884618"/>
            </a:solidFill>
            <a:custDash>
              <a:ds d="400000" sp="333333"/>
            </a:custDash>
          </a:ln>
        </p:spPr>
      </p:sp>
      <p:sp>
        <p:nvSpPr>
          <p:cNvPr id="30" name="Rectangle 30"/>
          <p:cNvSpPr/>
          <p:nvPr/>
        </p:nvSpPr>
        <p:spPr>
          <a:xfrm>
            <a:off x="11811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14668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17526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20383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23241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26098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28956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1813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4671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37528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40386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43243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46101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48958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51816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54673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57531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60388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63246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6103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8961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71818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74676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77533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80391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83248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86106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88963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91821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94678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9753600" y="4872990"/>
            <a:ext cx="209550" cy="765810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1003935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62" name="Rectangle 62"/>
          <p:cNvSpPr/>
          <p:nvPr/>
        </p:nvSpPr>
        <p:spPr>
          <a:xfrm>
            <a:off x="10325100" y="4426268"/>
            <a:ext cx="209550" cy="1212532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10610850" y="4872990"/>
            <a:ext cx="209550" cy="765810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64" name="Rectangle 64"/>
          <p:cNvSpPr/>
          <p:nvPr/>
        </p:nvSpPr>
        <p:spPr>
          <a:xfrm>
            <a:off x="10896600" y="4362450"/>
            <a:ext cx="209550" cy="1276350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11182350" y="4553902"/>
            <a:ext cx="209550" cy="1084898"/>
          </a:xfrm>
          <a:prstGeom prst="roundRect">
            <a:avLst>
              <a:gd name="adj" fmla="val 13636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1136904" y="4137660"/>
            <a:ext cx="55766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525863"/>
                </a:solidFill>
                <a:latin typeface="Microsoft YaHei"/>
                <a:ea typeface="Microsoft YaHei"/>
                <a:cs typeface="Microsoft YaHei"/>
              </a:rPr>
              <a:t>把第 4 行画出来：36 个质量字符 → 36 个 Q 值，其中 34 个越过 Q30 门槛</a:t>
            </a:r>
          </a:p>
        </p:txBody>
      </p:sp>
      <p:sp>
        <p:nvSpPr>
          <p:cNvPr id="67" name="Rectangle 67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68" name="Rectangle 68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982980" y="6067425"/>
            <a:ext cx="38832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四行都读懂了——但读懂，只是怀疑它的开始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270068" y="651891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第六部分 · 上机与收束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94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142" y="730568"/>
            <a:ext cx="18934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350" spc="300" dirty="0">
                <a:solidFill>
                  <a:srgbClr val="374DBA"/>
                </a:solidFill>
                <a:latin typeface="+mn-lt"/>
                <a:ea typeface="+mn-ea"/>
                <a:cs typeface="+mn-cs"/>
              </a:rPr>
              <a:t>THINK ABOUT 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284" y="1518285"/>
            <a:ext cx="547954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27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如果你的实验结果和预期不一致，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284" y="1994535"/>
            <a:ext cx="656996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27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你会先怀疑实验，还是先怀疑数据处理？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28194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</p:sp>
      <p:sp>
        <p:nvSpPr>
          <p:cNvPr id="7" name="Ellipse 7"/>
          <p:cNvSpPr/>
          <p:nvPr/>
        </p:nvSpPr>
        <p:spPr>
          <a:xfrm>
            <a:off x="809625" y="32861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58418" y="3212782"/>
            <a:ext cx="714473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先看质控报告：%Q30 是否达标、是否有接头污染、是否有 rRNA 残留</a:t>
            </a:r>
          </a:p>
        </p:txBody>
      </p:sp>
      <p:sp>
        <p:nvSpPr>
          <p:cNvPr id="9" name="Ellipse 9"/>
          <p:cNvSpPr/>
          <p:nvPr/>
        </p:nvSpPr>
        <p:spPr>
          <a:xfrm>
            <a:off x="809625" y="37623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58418" y="3689032"/>
            <a:ext cx="515660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再看比对质量：比对率、MAPQ 分布、覆盖均一性</a:t>
            </a:r>
          </a:p>
        </p:txBody>
      </p:sp>
      <p:sp>
        <p:nvSpPr>
          <p:cNvPr id="11" name="Ellipse 11"/>
          <p:cNvSpPr/>
          <p:nvPr/>
        </p:nvSpPr>
        <p:spPr>
          <a:xfrm>
            <a:off x="809625" y="42386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58418" y="4165282"/>
            <a:ext cx="400659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然后用 IGV 看几个关键位点的原始比对</a:t>
            </a:r>
          </a:p>
        </p:txBody>
      </p:sp>
      <p:sp>
        <p:nvSpPr>
          <p:cNvPr id="13" name="Ellipse 13"/>
          <p:cNvSpPr/>
          <p:nvPr/>
        </p:nvSpPr>
        <p:spPr>
          <a:xfrm>
            <a:off x="809625" y="471487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58418" y="4641532"/>
            <a:ext cx="625842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最后才考虑生物学解释——多数「意外发现」其实是数据处理问题</a:t>
            </a:r>
          </a:p>
        </p:txBody>
      </p:sp>
      <p:sp>
        <p:nvSpPr>
          <p:cNvPr id="15" name="Ellipse 15"/>
          <p:cNvSpPr/>
          <p:nvPr/>
        </p:nvSpPr>
        <p:spPr>
          <a:xfrm>
            <a:off x="809625" y="5191125"/>
            <a:ext cx="95250" cy="952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58418" y="5117782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6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养成习惯：任何结论之前，先让数据自己说一遍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59245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62000" y="5924550"/>
            <a:ext cx="57150" cy="4762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82980" y="6067425"/>
            <a:ext cx="54673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这一讲的所有格式与工具，最终都是为了让你有能力做这件事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70068" y="651891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第六部分 · 上机与收束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95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yline 2"/>
          <p:cNvSpPr/>
          <p:nvPr/>
        </p:nvSpPr>
        <p:spPr>
          <a:xfrm>
            <a:off x="1143000" y="3238500"/>
            <a:ext cx="9906000" cy="1714500"/>
          </a:xfrm>
          <a:custGeom>
            <a:avLst/>
            <a:gdLst/>
            <a:ahLst/>
            <a:cxnLst/>
            <a:rect l="l" t="t" r="r" b="b"/>
            <a:pathLst>
              <a:path w="9906000" h="1714500">
                <a:moveTo>
                  <a:pt x="0" y="857250"/>
                </a:moveTo>
                <a:lnTo>
                  <a:pt x="164783" y="1079182"/>
                </a:lnTo>
                <a:lnTo>
                  <a:pt x="330517" y="1285875"/>
                </a:lnTo>
                <a:lnTo>
                  <a:pt x="495300" y="1463040"/>
                </a:lnTo>
                <a:lnTo>
                  <a:pt x="660083" y="1599247"/>
                </a:lnTo>
                <a:lnTo>
                  <a:pt x="825817" y="1684972"/>
                </a:lnTo>
                <a:lnTo>
                  <a:pt x="990600" y="1714500"/>
                </a:lnTo>
                <a:lnTo>
                  <a:pt x="1155382" y="1684972"/>
                </a:lnTo>
                <a:lnTo>
                  <a:pt x="1321118" y="1599247"/>
                </a:lnTo>
                <a:lnTo>
                  <a:pt x="1485900" y="1463040"/>
                </a:lnTo>
                <a:lnTo>
                  <a:pt x="1650682" y="1285875"/>
                </a:lnTo>
                <a:lnTo>
                  <a:pt x="1816418" y="1079182"/>
                </a:lnTo>
                <a:lnTo>
                  <a:pt x="1981200" y="857250"/>
                </a:lnTo>
                <a:lnTo>
                  <a:pt x="2145982" y="635317"/>
                </a:lnTo>
                <a:lnTo>
                  <a:pt x="2311718" y="428625"/>
                </a:lnTo>
                <a:lnTo>
                  <a:pt x="2476500" y="251460"/>
                </a:lnTo>
                <a:lnTo>
                  <a:pt x="2641282" y="115253"/>
                </a:lnTo>
                <a:lnTo>
                  <a:pt x="2807018" y="29528"/>
                </a:lnTo>
                <a:lnTo>
                  <a:pt x="2971800" y="0"/>
                </a:lnTo>
                <a:lnTo>
                  <a:pt x="3136582" y="29528"/>
                </a:lnTo>
                <a:lnTo>
                  <a:pt x="3302318" y="115253"/>
                </a:lnTo>
                <a:lnTo>
                  <a:pt x="3467100" y="251460"/>
                </a:lnTo>
                <a:lnTo>
                  <a:pt x="3631882" y="428625"/>
                </a:lnTo>
                <a:lnTo>
                  <a:pt x="3797618" y="635317"/>
                </a:lnTo>
                <a:lnTo>
                  <a:pt x="3962400" y="857250"/>
                </a:lnTo>
                <a:lnTo>
                  <a:pt x="4127182" y="1079182"/>
                </a:lnTo>
                <a:lnTo>
                  <a:pt x="4292918" y="1285875"/>
                </a:lnTo>
                <a:lnTo>
                  <a:pt x="4457700" y="1463040"/>
                </a:lnTo>
                <a:lnTo>
                  <a:pt x="4622482" y="1599247"/>
                </a:lnTo>
                <a:lnTo>
                  <a:pt x="4788218" y="1684972"/>
                </a:lnTo>
                <a:lnTo>
                  <a:pt x="4953000" y="1714500"/>
                </a:lnTo>
                <a:lnTo>
                  <a:pt x="5117782" y="1684972"/>
                </a:lnTo>
                <a:lnTo>
                  <a:pt x="5283518" y="1599247"/>
                </a:lnTo>
                <a:lnTo>
                  <a:pt x="5448300" y="1463040"/>
                </a:lnTo>
                <a:lnTo>
                  <a:pt x="5613082" y="1285875"/>
                </a:lnTo>
                <a:lnTo>
                  <a:pt x="5778818" y="1079182"/>
                </a:lnTo>
                <a:lnTo>
                  <a:pt x="5943600" y="857250"/>
                </a:lnTo>
                <a:lnTo>
                  <a:pt x="6108382" y="635317"/>
                </a:lnTo>
                <a:lnTo>
                  <a:pt x="6274118" y="428625"/>
                </a:lnTo>
                <a:lnTo>
                  <a:pt x="6438900" y="251460"/>
                </a:lnTo>
                <a:lnTo>
                  <a:pt x="6603682" y="115253"/>
                </a:lnTo>
                <a:lnTo>
                  <a:pt x="6769418" y="29528"/>
                </a:lnTo>
                <a:lnTo>
                  <a:pt x="6934200" y="0"/>
                </a:lnTo>
                <a:lnTo>
                  <a:pt x="7098982" y="29528"/>
                </a:lnTo>
                <a:lnTo>
                  <a:pt x="7264718" y="115253"/>
                </a:lnTo>
                <a:lnTo>
                  <a:pt x="7429500" y="251460"/>
                </a:lnTo>
                <a:lnTo>
                  <a:pt x="7594282" y="428625"/>
                </a:lnTo>
                <a:lnTo>
                  <a:pt x="7760018" y="635317"/>
                </a:lnTo>
                <a:lnTo>
                  <a:pt x="7924800" y="857250"/>
                </a:lnTo>
                <a:lnTo>
                  <a:pt x="8089582" y="1079182"/>
                </a:lnTo>
                <a:lnTo>
                  <a:pt x="8255318" y="1285875"/>
                </a:lnTo>
                <a:lnTo>
                  <a:pt x="8420100" y="1463040"/>
                </a:lnTo>
                <a:lnTo>
                  <a:pt x="8584882" y="1599247"/>
                </a:lnTo>
                <a:lnTo>
                  <a:pt x="8750618" y="1684972"/>
                </a:lnTo>
                <a:lnTo>
                  <a:pt x="8915400" y="1714500"/>
                </a:lnTo>
                <a:lnTo>
                  <a:pt x="9080182" y="1684972"/>
                </a:lnTo>
                <a:lnTo>
                  <a:pt x="9245918" y="1599247"/>
                </a:lnTo>
                <a:lnTo>
                  <a:pt x="9410700" y="1463040"/>
                </a:lnTo>
                <a:lnTo>
                  <a:pt x="9575482" y="1285875"/>
                </a:lnTo>
                <a:lnTo>
                  <a:pt x="9741218" y="1079182"/>
                </a:lnTo>
                <a:lnTo>
                  <a:pt x="9906000" y="857250"/>
                </a:lnTo>
              </a:path>
            </a:pathLst>
          </a:custGeom>
          <a:noFill/>
          <a:ln w="23812">
            <a:solidFill>
              <a:srgbClr val="FFFFFF">
                <a:alpha val="30000"/>
              </a:srgbClr>
            </a:solidFill>
          </a:ln>
        </p:spPr>
      </p:sp>
      <p:sp>
        <p:nvSpPr>
          <p:cNvPr id="3" name="Polyline 3"/>
          <p:cNvSpPr/>
          <p:nvPr/>
        </p:nvSpPr>
        <p:spPr>
          <a:xfrm>
            <a:off x="1143000" y="3238500"/>
            <a:ext cx="9906000" cy="1714500"/>
          </a:xfrm>
          <a:custGeom>
            <a:avLst/>
            <a:gdLst/>
            <a:ahLst/>
            <a:cxnLst/>
            <a:rect l="l" t="t" r="r" b="b"/>
            <a:pathLst>
              <a:path w="9906000" h="1714500">
                <a:moveTo>
                  <a:pt x="0" y="857250"/>
                </a:moveTo>
                <a:lnTo>
                  <a:pt x="164783" y="635317"/>
                </a:lnTo>
                <a:lnTo>
                  <a:pt x="330517" y="428625"/>
                </a:lnTo>
                <a:lnTo>
                  <a:pt x="495300" y="251460"/>
                </a:lnTo>
                <a:lnTo>
                  <a:pt x="660083" y="115253"/>
                </a:lnTo>
                <a:lnTo>
                  <a:pt x="825817" y="29528"/>
                </a:lnTo>
                <a:lnTo>
                  <a:pt x="990600" y="0"/>
                </a:lnTo>
                <a:lnTo>
                  <a:pt x="1155382" y="29528"/>
                </a:lnTo>
                <a:lnTo>
                  <a:pt x="1321118" y="115253"/>
                </a:lnTo>
                <a:lnTo>
                  <a:pt x="1485900" y="251460"/>
                </a:lnTo>
                <a:lnTo>
                  <a:pt x="1650682" y="428625"/>
                </a:lnTo>
                <a:lnTo>
                  <a:pt x="1816418" y="635317"/>
                </a:lnTo>
                <a:lnTo>
                  <a:pt x="1981200" y="857250"/>
                </a:lnTo>
                <a:lnTo>
                  <a:pt x="2145982" y="1079182"/>
                </a:lnTo>
                <a:lnTo>
                  <a:pt x="2311718" y="1285875"/>
                </a:lnTo>
                <a:lnTo>
                  <a:pt x="2476500" y="1463040"/>
                </a:lnTo>
                <a:lnTo>
                  <a:pt x="2641282" y="1599247"/>
                </a:lnTo>
                <a:lnTo>
                  <a:pt x="2807018" y="1684972"/>
                </a:lnTo>
                <a:lnTo>
                  <a:pt x="2971800" y="1714500"/>
                </a:lnTo>
                <a:lnTo>
                  <a:pt x="3136582" y="1684972"/>
                </a:lnTo>
                <a:lnTo>
                  <a:pt x="3302318" y="1599247"/>
                </a:lnTo>
                <a:lnTo>
                  <a:pt x="3467100" y="1463040"/>
                </a:lnTo>
                <a:lnTo>
                  <a:pt x="3631882" y="1285875"/>
                </a:lnTo>
                <a:lnTo>
                  <a:pt x="3797618" y="1079182"/>
                </a:lnTo>
                <a:lnTo>
                  <a:pt x="3962400" y="857250"/>
                </a:lnTo>
                <a:lnTo>
                  <a:pt x="4127182" y="635317"/>
                </a:lnTo>
                <a:lnTo>
                  <a:pt x="4292918" y="428625"/>
                </a:lnTo>
                <a:lnTo>
                  <a:pt x="4457700" y="251460"/>
                </a:lnTo>
                <a:lnTo>
                  <a:pt x="4622482" y="115253"/>
                </a:lnTo>
                <a:lnTo>
                  <a:pt x="4788218" y="29528"/>
                </a:lnTo>
                <a:lnTo>
                  <a:pt x="4953000" y="0"/>
                </a:lnTo>
                <a:lnTo>
                  <a:pt x="5117782" y="29528"/>
                </a:lnTo>
                <a:lnTo>
                  <a:pt x="5283518" y="115253"/>
                </a:lnTo>
                <a:lnTo>
                  <a:pt x="5448300" y="251460"/>
                </a:lnTo>
                <a:lnTo>
                  <a:pt x="5613082" y="428625"/>
                </a:lnTo>
                <a:lnTo>
                  <a:pt x="5778818" y="635317"/>
                </a:lnTo>
                <a:lnTo>
                  <a:pt x="5943600" y="857250"/>
                </a:lnTo>
                <a:lnTo>
                  <a:pt x="6108382" y="1079182"/>
                </a:lnTo>
                <a:lnTo>
                  <a:pt x="6274118" y="1285875"/>
                </a:lnTo>
                <a:lnTo>
                  <a:pt x="6438900" y="1463040"/>
                </a:lnTo>
                <a:lnTo>
                  <a:pt x="6603682" y="1599247"/>
                </a:lnTo>
                <a:lnTo>
                  <a:pt x="6769418" y="1684972"/>
                </a:lnTo>
                <a:lnTo>
                  <a:pt x="6934200" y="1714500"/>
                </a:lnTo>
                <a:lnTo>
                  <a:pt x="7098982" y="1684972"/>
                </a:lnTo>
                <a:lnTo>
                  <a:pt x="7264718" y="1599247"/>
                </a:lnTo>
                <a:lnTo>
                  <a:pt x="7429500" y="1463040"/>
                </a:lnTo>
                <a:lnTo>
                  <a:pt x="7594282" y="1285875"/>
                </a:lnTo>
                <a:lnTo>
                  <a:pt x="7760018" y="1079182"/>
                </a:lnTo>
                <a:lnTo>
                  <a:pt x="7924800" y="857250"/>
                </a:lnTo>
                <a:lnTo>
                  <a:pt x="8089582" y="635317"/>
                </a:lnTo>
                <a:lnTo>
                  <a:pt x="8255318" y="428625"/>
                </a:lnTo>
                <a:lnTo>
                  <a:pt x="8420100" y="251460"/>
                </a:lnTo>
                <a:lnTo>
                  <a:pt x="8584882" y="115253"/>
                </a:lnTo>
                <a:lnTo>
                  <a:pt x="8750618" y="29528"/>
                </a:lnTo>
                <a:lnTo>
                  <a:pt x="8915400" y="0"/>
                </a:lnTo>
                <a:lnTo>
                  <a:pt x="9080182" y="29528"/>
                </a:lnTo>
                <a:lnTo>
                  <a:pt x="9245918" y="115253"/>
                </a:lnTo>
                <a:lnTo>
                  <a:pt x="9410700" y="251460"/>
                </a:lnTo>
                <a:lnTo>
                  <a:pt x="9575482" y="428625"/>
                </a:lnTo>
                <a:lnTo>
                  <a:pt x="9741218" y="635317"/>
                </a:lnTo>
                <a:lnTo>
                  <a:pt x="9906000" y="857250"/>
                </a:lnTo>
              </a:path>
            </a:pathLst>
          </a:custGeom>
          <a:noFill/>
          <a:ln w="23812">
            <a:solidFill>
              <a:srgbClr val="FFFFFF">
                <a:alpha val="3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11430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197167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279082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36195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444817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526732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692467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774382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85725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940117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0220325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11049000" y="32385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FFFFFF">
                <a:alpha val="16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42950" y="1765935"/>
            <a:ext cx="46421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5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把证据链走完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2094" y="2723198"/>
            <a:ext cx="34324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950" dirty="0">
                <a:solidFill>
                  <a:srgbClr val="FFFFFF">
                    <a:alphaMod val="82000"/>
                  </a:srgbClr>
                </a:solidFill>
                <a:latin typeface="Microsoft YaHei"/>
                <a:ea typeface="Microsoft YaHei"/>
                <a:cs typeface="Microsoft YaHei"/>
              </a:rPr>
              <a:t>从读长到文件，从质量到结论</a:t>
            </a:r>
          </a:p>
        </p:txBody>
      </p:sp>
      <p:sp>
        <p:nvSpPr>
          <p:cNvPr id="19" name="Line 19"/>
          <p:cNvSpPr/>
          <p:nvPr/>
        </p:nvSpPr>
        <p:spPr>
          <a:xfrm>
            <a:off x="762000" y="33528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54380" y="380047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88000"/>
                  </a:srgbClr>
                </a:solidFill>
                <a:latin typeface="Microsoft YaHei"/>
                <a:ea typeface="Microsoft YaHei"/>
                <a:cs typeface="Microsoft YaHei"/>
              </a:rPr>
              <a:t>先查质量，再查证据链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4380" y="418147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88000"/>
                  </a:srgbClr>
                </a:solidFill>
                <a:latin typeface="Microsoft YaHei"/>
                <a:ea typeface="Microsoft YaHei"/>
                <a:cs typeface="Microsoft YaHei"/>
              </a:rPr>
              <a:t>结论要结合设计、覆盖与比对质量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4380" y="456247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500" dirty="0">
                <a:solidFill>
                  <a:srgbClr val="FFFFFF">
                    <a:alphaMod val="88000"/>
                  </a:srgbClr>
                </a:solidFill>
                <a:latin typeface="Microsoft YaHei"/>
                <a:ea typeface="Microsoft YaHei"/>
                <a:cs typeface="Microsoft YaHei"/>
              </a:rPr>
              <a:t>保留证据边界，再解释生物学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5904" y="6518910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功能基因组学 · 第3讲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70068" y="651891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-CN" sz="1200" dirty="0">
                <a:solidFill>
                  <a:srgbClr val="9FB0C4"/>
                </a:solidFill>
                <a:latin typeface="Microsoft YaHei"/>
                <a:ea typeface="Microsoft YaHei"/>
                <a:cs typeface="Microsoft YaHei"/>
              </a:rPr>
              <a:t>第六部分 · 上机与收束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827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-CN" sz="1200" dirty="0">
                <a:solidFill>
                  <a:srgbClr val="9FB0C4"/>
                </a:solidFill>
                <a:latin typeface="+mn-lt"/>
                <a:ea typeface="+mn-ea"/>
                <a:cs typeface="+mn-cs"/>
              </a:rPr>
              <a:t>96 / 96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3-sequencing">
  <a:themeElements>
    <a:clrScheme name="L3-sequencing">
      <a:dk1>
        <a:srgbClr val="1A1A1A"/>
      </a:dk1>
      <a:lt1>
        <a:srgbClr val="FFFFFF"/>
      </a:lt1>
      <a:dk2>
        <a:srgbClr val="1A1A1A"/>
      </a:dk2>
      <a:lt2>
        <a:srgbClr val="FFFFFF"/>
      </a:lt2>
      <a:accent1>
        <a:srgbClr val="1F3A5F"/>
      </a:accent1>
      <a:accent2>
        <a:srgbClr val="E8A87C"/>
      </a:accent2>
      <a:accent3>
        <a:srgbClr val="E8A87C"/>
      </a:accent3>
      <a:accent4>
        <a:srgbClr val="1F3A5F"/>
      </a:accent4>
      <a:accent5>
        <a:srgbClr val="3AAFA9"/>
      </a:accent5>
      <a:accent6>
        <a:srgbClr val="5B6FCF"/>
      </a:accent6>
      <a:hlink>
        <a:srgbClr val="E8A87C"/>
      </a:hlink>
      <a:folHlink>
        <a:srgbClr val="E8A87C"/>
      </a:folHlink>
    </a:clrScheme>
    <a:fontScheme name="L3-sequenc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3-sequenc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3-sequencing">
  <a:themeElements>
    <a:clrScheme name="L3-sequencing">
      <a:dk1>
        <a:srgbClr val="1A1A1A"/>
      </a:dk1>
      <a:lt1>
        <a:srgbClr val="FFFFFF"/>
      </a:lt1>
      <a:dk2>
        <a:srgbClr val="1A1A1A"/>
      </a:dk2>
      <a:lt2>
        <a:srgbClr val="FFFFFF"/>
      </a:lt2>
      <a:accent1>
        <a:srgbClr val="1F3A5F"/>
      </a:accent1>
      <a:accent2>
        <a:srgbClr val="E8A87C"/>
      </a:accent2>
      <a:accent3>
        <a:srgbClr val="E8A87C"/>
      </a:accent3>
      <a:accent4>
        <a:srgbClr val="1F3A5F"/>
      </a:accent4>
      <a:accent5>
        <a:srgbClr val="3AAFA9"/>
      </a:accent5>
      <a:accent6>
        <a:srgbClr val="5B6FCF"/>
      </a:accent6>
      <a:hlink>
        <a:srgbClr val="E8A87C"/>
      </a:hlink>
      <a:folHlink>
        <a:srgbClr val="E8A87C"/>
      </a:folHlink>
    </a:clrScheme>
    <a:fontScheme name="L3-sequenc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3-sequenc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zh-Hans-CN</dc:language>
  <cp:lastModifiedBy/>
  <cp:revision>1</cp:revision>
  <dcterms:created xsi:type="dcterms:W3CDTF">2026-10-10T06:54:33Z</dcterms:created>
  <dcterms:modified xsi:type="dcterms:W3CDTF">2026-10-10T06:54:33Z</dcterms:modified>
  <cp:category/>
  <cp:contentStatus/>
</cp:coreProperties>
</file>